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5" r:id="rId8"/>
    <p:sldId id="262" r:id="rId9"/>
    <p:sldId id="263"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4" d="100"/>
          <a:sy n="114" d="100"/>
        </p:scale>
        <p:origin x="71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 K" userId="fdf928b868ebf982" providerId="LiveId" clId="{2C3B4D46-4E85-4AA4-8E14-29BCE6888312}"/>
    <pc:docChg chg="modSld">
      <pc:chgData name="L K" userId="fdf928b868ebf982" providerId="LiveId" clId="{2C3B4D46-4E85-4AA4-8E14-29BCE6888312}" dt="2026-04-08T09:56:38.187" v="1" actId="14100"/>
      <pc:docMkLst>
        <pc:docMk/>
      </pc:docMkLst>
      <pc:sldChg chg="modSp mod">
        <pc:chgData name="L K" userId="fdf928b868ebf982" providerId="LiveId" clId="{2C3B4D46-4E85-4AA4-8E14-29BCE6888312}" dt="2026-04-08T09:56:38.187" v="1" actId="14100"/>
        <pc:sldMkLst>
          <pc:docMk/>
          <pc:sldMk cId="3109693366" sldId="265"/>
        </pc:sldMkLst>
        <pc:picChg chg="mod">
          <ac:chgData name="L K" userId="fdf928b868ebf982" providerId="LiveId" clId="{2C3B4D46-4E85-4AA4-8E14-29BCE6888312}" dt="2026-04-08T09:56:38.187" v="1" actId="14100"/>
          <ac:picMkLst>
            <pc:docMk/>
            <pc:sldMk cId="3109693366" sldId="265"/>
            <ac:picMk id="34" creationId="{5F2B3B55-8E83-E435-C3E6-B241F06E34B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4137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BBEE0-F99E-D0F7-2BB3-670908ED9B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D4E0DE-4D40-D505-13C7-1D97ED2938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ED8C47-2168-6D6D-7287-75400BA02B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F74927-C98F-88E1-78A7-96E5D47A416C}"/>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4907313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C9A7"/>
          </a:solidFill>
          <a:ln w="12700">
            <a:solidFill>
              <a:srgbClr val="00C9A7"/>
            </a:solidFill>
            <a:prstDash val="solid"/>
          </a:ln>
        </p:spPr>
        <p:txBody>
          <a:bodyPr/>
          <a:lstStyle/>
          <a:p>
            <a:endParaRPr lang="en-US"/>
          </a:p>
        </p:txBody>
      </p:sp>
      <p:sp>
        <p:nvSpPr>
          <p:cNvPr id="3" name="Shape 1"/>
          <p:cNvSpPr/>
          <p:nvPr/>
        </p:nvSpPr>
        <p:spPr>
          <a:xfrm>
            <a:off x="5303520" y="-1097280"/>
            <a:ext cx="5029200" cy="5029200"/>
          </a:xfrm>
          <a:prstGeom prst="ellipse">
            <a:avLst/>
          </a:prstGeom>
          <a:solidFill>
            <a:srgbClr val="1B6CA8">
              <a:alpha val="15000"/>
            </a:srgbClr>
          </a:solidFill>
          <a:ln w="12700">
            <a:solidFill>
              <a:srgbClr val="1B6CA8">
                <a:alpha val="15000"/>
              </a:srgbClr>
            </a:solidFill>
            <a:prstDash val="solid"/>
          </a:ln>
        </p:spPr>
        <p:txBody>
          <a:bodyPr/>
          <a:lstStyle/>
          <a:p>
            <a:endParaRPr lang="en-US"/>
          </a:p>
        </p:txBody>
      </p:sp>
      <p:sp>
        <p:nvSpPr>
          <p:cNvPr id="4" name="Shape 2"/>
          <p:cNvSpPr/>
          <p:nvPr/>
        </p:nvSpPr>
        <p:spPr>
          <a:xfrm>
            <a:off x="5943600" y="-457200"/>
            <a:ext cx="3657600" cy="3657600"/>
          </a:xfrm>
          <a:prstGeom prst="ellipse">
            <a:avLst/>
          </a:prstGeom>
          <a:solidFill>
            <a:srgbClr val="2196C4">
              <a:alpha val="20000"/>
            </a:srgbClr>
          </a:solidFill>
          <a:ln w="12700">
            <a:solidFill>
              <a:srgbClr val="2196C4">
                <a:alpha val="20000"/>
              </a:srgbClr>
            </a:solidFill>
            <a:prstDash val="solid"/>
          </a:ln>
        </p:spPr>
        <p:txBody>
          <a:bodyPr/>
          <a:lstStyle/>
          <a:p>
            <a:endParaRPr lang="en-US"/>
          </a:p>
        </p:txBody>
      </p:sp>
      <p:sp>
        <p:nvSpPr>
          <p:cNvPr id="5" name="Shape 3"/>
          <p:cNvSpPr/>
          <p:nvPr/>
        </p:nvSpPr>
        <p:spPr>
          <a:xfrm>
            <a:off x="365760" y="274320"/>
            <a:ext cx="2377440" cy="347472"/>
          </a:xfrm>
          <a:prstGeom prst="rect">
            <a:avLst/>
          </a:prstGeom>
          <a:solidFill>
            <a:srgbClr val="00C9A7"/>
          </a:solidFill>
          <a:ln w="12700">
            <a:solidFill>
              <a:srgbClr val="00C9A7"/>
            </a:solidFill>
            <a:prstDash val="solid"/>
          </a:ln>
        </p:spPr>
        <p:txBody>
          <a:bodyPr/>
          <a:lstStyle/>
          <a:p>
            <a:endParaRPr lang="en-US"/>
          </a:p>
        </p:txBody>
      </p:sp>
      <p:sp>
        <p:nvSpPr>
          <p:cNvPr id="6" name="Text 4"/>
          <p:cNvSpPr/>
          <p:nvPr/>
        </p:nvSpPr>
        <p:spPr>
          <a:xfrm>
            <a:off x="365760" y="274320"/>
            <a:ext cx="2377440" cy="347472"/>
          </a:xfrm>
          <a:prstGeom prst="rect">
            <a:avLst/>
          </a:prstGeom>
          <a:noFill/>
          <a:ln/>
        </p:spPr>
        <p:txBody>
          <a:bodyPr wrap="square" lIns="0" tIns="0" rIns="0" bIns="0" rtlCol="0" anchor="ctr"/>
          <a:lstStyle/>
          <a:p>
            <a:pPr marL="0" indent="0" algn="ctr">
              <a:buNone/>
            </a:pPr>
            <a:r>
              <a:rPr lang="en-US" sz="950" b="1" dirty="0">
                <a:solidFill>
                  <a:srgbClr val="0D1B2A"/>
                </a:solidFill>
              </a:rPr>
              <a:t>USIU-AFRICA · DSA3050</a:t>
            </a:r>
            <a:endParaRPr lang="en-US" sz="950" dirty="0"/>
          </a:p>
        </p:txBody>
      </p:sp>
      <p:sp>
        <p:nvSpPr>
          <p:cNvPr id="7" name="Text 5"/>
          <p:cNvSpPr/>
          <p:nvPr/>
        </p:nvSpPr>
        <p:spPr>
          <a:xfrm>
            <a:off x="365760" y="914400"/>
            <a:ext cx="8229600" cy="868680"/>
          </a:xfrm>
          <a:prstGeom prst="rect">
            <a:avLst/>
          </a:prstGeom>
          <a:noFill/>
          <a:ln/>
        </p:spPr>
        <p:txBody>
          <a:bodyPr wrap="square" lIns="0" tIns="0" rIns="0" bIns="0" rtlCol="0" anchor="ctr"/>
          <a:lstStyle/>
          <a:p>
            <a:pPr marL="0" indent="0">
              <a:buNone/>
            </a:pPr>
            <a:r>
              <a:rPr lang="en-US" sz="5400" b="1" kern="0" spc="300" dirty="0">
                <a:solidFill>
                  <a:srgbClr val="FFFFFF"/>
                </a:solidFill>
                <a:latin typeface="Calibri" pitchFamily="34" charset="0"/>
                <a:ea typeface="Calibri" pitchFamily="34" charset="-122"/>
                <a:cs typeface="Calibri" pitchFamily="34" charset="-120"/>
              </a:rPr>
              <a:t>GLOBAL EXPORT</a:t>
            </a:r>
            <a:endParaRPr lang="en-US" sz="5400" dirty="0"/>
          </a:p>
        </p:txBody>
      </p:sp>
      <p:sp>
        <p:nvSpPr>
          <p:cNvPr id="8" name="Text 6"/>
          <p:cNvSpPr/>
          <p:nvPr/>
        </p:nvSpPr>
        <p:spPr>
          <a:xfrm>
            <a:off x="365760" y="1737360"/>
            <a:ext cx="8229600" cy="868680"/>
          </a:xfrm>
          <a:prstGeom prst="rect">
            <a:avLst/>
          </a:prstGeom>
          <a:noFill/>
          <a:ln/>
        </p:spPr>
        <p:txBody>
          <a:bodyPr wrap="square" lIns="0" tIns="0" rIns="0" bIns="0" rtlCol="0" anchor="ctr"/>
          <a:lstStyle/>
          <a:p>
            <a:pPr marL="0" indent="0">
              <a:buNone/>
            </a:pPr>
            <a:r>
              <a:rPr lang="en-US" sz="5400" b="1" kern="0" spc="300" dirty="0">
                <a:solidFill>
                  <a:srgbClr val="00C9A7"/>
                </a:solidFill>
                <a:latin typeface="Calibri" pitchFamily="34" charset="0"/>
                <a:ea typeface="Calibri" pitchFamily="34" charset="-122"/>
                <a:cs typeface="Calibri" pitchFamily="34" charset="-120"/>
              </a:rPr>
              <a:t>RESILIENCE</a:t>
            </a:r>
            <a:endParaRPr lang="en-US" sz="5400" dirty="0"/>
          </a:p>
        </p:txBody>
      </p:sp>
      <p:sp>
        <p:nvSpPr>
          <p:cNvPr id="9" name="Text 7"/>
          <p:cNvSpPr/>
          <p:nvPr/>
        </p:nvSpPr>
        <p:spPr>
          <a:xfrm>
            <a:off x="365760" y="2788920"/>
            <a:ext cx="6400800" cy="777240"/>
          </a:xfrm>
          <a:prstGeom prst="rect">
            <a:avLst/>
          </a:prstGeom>
          <a:noFill/>
          <a:ln/>
        </p:spPr>
        <p:txBody>
          <a:bodyPr wrap="square" lIns="0" tIns="0" rIns="0" bIns="0" rtlCol="0" anchor="t"/>
          <a:lstStyle/>
          <a:p>
            <a:pPr marL="0" indent="0" algn="l">
              <a:buNone/>
            </a:pPr>
            <a:r>
              <a:rPr lang="en-US" dirty="0">
                <a:solidFill>
                  <a:srgbClr val="B0C4DE"/>
                </a:solidFill>
                <a:latin typeface="Calibri" pitchFamily="34" charset="0"/>
                <a:ea typeface="Calibri" pitchFamily="34" charset="-122"/>
                <a:cs typeface="Calibri" pitchFamily="34" charset="-120"/>
              </a:rPr>
              <a:t>Analysing the Impact of Banking Crises</a:t>
            </a:r>
            <a:endParaRPr lang="en-US" dirty="0"/>
          </a:p>
          <a:p>
            <a:pPr marL="0" indent="0" algn="l">
              <a:buNone/>
            </a:pPr>
            <a:r>
              <a:rPr lang="en-US" dirty="0">
                <a:solidFill>
                  <a:srgbClr val="B0C4DE"/>
                </a:solidFill>
                <a:latin typeface="Calibri" pitchFamily="34" charset="0"/>
                <a:ea typeface="Calibri" pitchFamily="34" charset="-122"/>
                <a:cs typeface="Calibri" pitchFamily="34" charset="-120"/>
              </a:rPr>
              <a:t>and Policy Interventions on International Trade</a:t>
            </a:r>
            <a:endParaRPr lang="en-US" dirty="0"/>
          </a:p>
        </p:txBody>
      </p:sp>
      <p:sp>
        <p:nvSpPr>
          <p:cNvPr id="10" name="Shape 8"/>
          <p:cNvSpPr/>
          <p:nvPr/>
        </p:nvSpPr>
        <p:spPr>
          <a:xfrm>
            <a:off x="0" y="4645152"/>
            <a:ext cx="9144000" cy="498348"/>
          </a:xfrm>
          <a:prstGeom prst="rect">
            <a:avLst/>
          </a:prstGeom>
          <a:solidFill>
            <a:srgbClr val="0A1628"/>
          </a:solidFill>
          <a:ln w="12700">
            <a:solidFill>
              <a:srgbClr val="0A1628"/>
            </a:solidFill>
            <a:prstDash val="solid"/>
          </a:ln>
        </p:spPr>
        <p:txBody>
          <a:bodyPr/>
          <a:lstStyle/>
          <a:p>
            <a:endParaRPr lang="en-US"/>
          </a:p>
        </p:txBody>
      </p:sp>
      <p:sp>
        <p:nvSpPr>
          <p:cNvPr id="11" name="Text 9"/>
          <p:cNvSpPr/>
          <p:nvPr/>
        </p:nvSpPr>
        <p:spPr>
          <a:xfrm>
            <a:off x="274320" y="4645152"/>
            <a:ext cx="8595360" cy="498348"/>
          </a:xfrm>
          <a:prstGeom prst="rect">
            <a:avLst/>
          </a:prstGeom>
          <a:noFill/>
          <a:ln/>
        </p:spPr>
        <p:txBody>
          <a:bodyPr wrap="square" lIns="0" tIns="0" rIns="0" bIns="0" rtlCol="0" anchor="ctr"/>
          <a:lstStyle/>
          <a:p>
            <a:pPr marL="0" indent="0" algn="ctr">
              <a:buNone/>
            </a:pPr>
            <a:r>
              <a:rPr lang="en-US" sz="950" dirty="0">
                <a:solidFill>
                  <a:srgbClr val="B0C4DE"/>
                </a:solidFill>
                <a:latin typeface="Calibri" pitchFamily="34" charset="0"/>
                <a:ea typeface="Calibri" pitchFamily="34" charset="-122"/>
                <a:cs typeface="Calibri" pitchFamily="34" charset="-120"/>
              </a:rPr>
              <a:t>Group C  ·  Angela Irungu  ·  Martin Kyaremateng  ·  Queen Kibegi  ·  Tumaini Micheni  ·  Leona Kamau  </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US"/>
          </a:p>
        </p:txBody>
      </p:sp>
      <p:sp>
        <p:nvSpPr>
          <p:cNvPr id="3" name="Shape 1"/>
          <p:cNvSpPr/>
          <p:nvPr/>
        </p:nvSpPr>
        <p:spPr>
          <a:xfrm>
            <a:off x="0" y="0"/>
            <a:ext cx="64008" cy="5143500"/>
          </a:xfrm>
          <a:prstGeom prst="rect">
            <a:avLst/>
          </a:prstGeom>
          <a:solidFill>
            <a:srgbClr val="00C9A7"/>
          </a:solidFill>
          <a:ln w="12700">
            <a:solidFill>
              <a:srgbClr val="00C9A7"/>
            </a:solidFill>
            <a:prstDash val="solid"/>
          </a:ln>
        </p:spPr>
        <p:txBody>
          <a:bodyPr/>
          <a:lstStyle/>
          <a:p>
            <a:endParaRPr lang="en-US"/>
          </a:p>
        </p:txBody>
      </p:sp>
      <p:sp>
        <p:nvSpPr>
          <p:cNvPr id="4" name="Text 2"/>
          <p:cNvSpPr/>
          <p:nvPr/>
        </p:nvSpPr>
        <p:spPr>
          <a:xfrm>
            <a:off x="274320" y="0"/>
            <a:ext cx="8595360" cy="960120"/>
          </a:xfrm>
          <a:prstGeom prst="rect">
            <a:avLst/>
          </a:prstGeom>
          <a:noFill/>
          <a:ln/>
        </p:spPr>
        <p:txBody>
          <a:bodyPr wrap="square" lIns="0" tIns="0" rIns="0" bIns="0" rtlCol="0" anchor="ctr"/>
          <a:lstStyle/>
          <a:p>
            <a:pPr marL="0" indent="0">
              <a:buNone/>
            </a:pPr>
            <a:r>
              <a:rPr lang="en-US" sz="2200" b="1" kern="0" spc="200" dirty="0">
                <a:solidFill>
                  <a:srgbClr val="FFFFFF"/>
                </a:solidFill>
                <a:latin typeface="Calibri" pitchFamily="34" charset="0"/>
                <a:ea typeface="Calibri" pitchFamily="34" charset="-122"/>
                <a:cs typeface="Calibri" pitchFamily="34" charset="-120"/>
              </a:rPr>
              <a:t>EXECUTIVE SUMMARY</a:t>
            </a:r>
            <a:endParaRPr lang="en-US" sz="2200" dirty="0"/>
          </a:p>
        </p:txBody>
      </p:sp>
      <p:sp>
        <p:nvSpPr>
          <p:cNvPr id="5" name="Shape 3"/>
          <p:cNvSpPr/>
          <p:nvPr/>
        </p:nvSpPr>
        <p:spPr>
          <a:xfrm>
            <a:off x="228600" y="1143000"/>
            <a:ext cx="2057400" cy="1554480"/>
          </a:xfrm>
          <a:prstGeom prst="rect">
            <a:avLst/>
          </a:prstGeom>
          <a:solidFill>
            <a:srgbClr val="0D1B2A"/>
          </a:solidFill>
          <a:ln w="12700">
            <a:solidFill>
              <a:srgbClr val="0D1B2A"/>
            </a:solidFill>
            <a:prstDash val="solid"/>
          </a:ln>
          <a:effectLst>
            <a:outerShdw blurRad="101600" dist="25400" dir="8100000" algn="bl" rotWithShape="0">
              <a:srgbClr val="000000">
                <a:alpha val="18000"/>
              </a:srgbClr>
            </a:outerShdw>
          </a:effectLst>
        </p:spPr>
        <p:txBody>
          <a:bodyPr/>
          <a:lstStyle/>
          <a:p>
            <a:endParaRPr lang="en-US"/>
          </a:p>
        </p:txBody>
      </p:sp>
      <p:sp>
        <p:nvSpPr>
          <p:cNvPr id="6" name="Shape 4"/>
          <p:cNvSpPr/>
          <p:nvPr/>
        </p:nvSpPr>
        <p:spPr>
          <a:xfrm>
            <a:off x="228600" y="1143000"/>
            <a:ext cx="2057400" cy="73152"/>
          </a:xfrm>
          <a:prstGeom prst="rect">
            <a:avLst/>
          </a:prstGeom>
          <a:solidFill>
            <a:srgbClr val="1B6CA8"/>
          </a:solidFill>
          <a:ln w="12700">
            <a:solidFill>
              <a:srgbClr val="1B6CA8"/>
            </a:solidFill>
            <a:prstDash val="solid"/>
          </a:ln>
        </p:spPr>
        <p:txBody>
          <a:bodyPr/>
          <a:lstStyle/>
          <a:p>
            <a:endParaRPr lang="en-US"/>
          </a:p>
        </p:txBody>
      </p:sp>
      <p:sp>
        <p:nvSpPr>
          <p:cNvPr id="7" name="Text 5"/>
          <p:cNvSpPr/>
          <p:nvPr/>
        </p:nvSpPr>
        <p:spPr>
          <a:xfrm>
            <a:off x="228600" y="1216152"/>
            <a:ext cx="2057400" cy="749808"/>
          </a:xfrm>
          <a:prstGeom prst="rect">
            <a:avLst/>
          </a:prstGeom>
          <a:noFill/>
          <a:ln/>
        </p:spPr>
        <p:txBody>
          <a:bodyPr wrap="square" lIns="0" tIns="0" rIns="0" bIns="0" rtlCol="0" anchor="ctr"/>
          <a:lstStyle/>
          <a:p>
            <a:pPr marL="0" indent="0" algn="ctr">
              <a:buNone/>
            </a:pPr>
            <a:r>
              <a:rPr lang="en-US" sz="3200" b="1" dirty="0">
                <a:solidFill>
                  <a:srgbClr val="1B6CA8"/>
                </a:solidFill>
                <a:latin typeface="Calibri" pitchFamily="34" charset="0"/>
                <a:ea typeface="Calibri" pitchFamily="34" charset="-122"/>
                <a:cs typeface="Calibri" pitchFamily="34" charset="-120"/>
              </a:rPr>
              <a:t>39,500+</a:t>
            </a:r>
            <a:endParaRPr lang="en-US" sz="3200" dirty="0"/>
          </a:p>
        </p:txBody>
      </p:sp>
      <p:sp>
        <p:nvSpPr>
          <p:cNvPr id="8" name="Text 6"/>
          <p:cNvSpPr/>
          <p:nvPr/>
        </p:nvSpPr>
        <p:spPr>
          <a:xfrm>
            <a:off x="228600" y="1965960"/>
            <a:ext cx="2057400"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Observations</a:t>
            </a:r>
            <a:endParaRPr lang="en-US" sz="1050" dirty="0"/>
          </a:p>
        </p:txBody>
      </p:sp>
      <p:sp>
        <p:nvSpPr>
          <p:cNvPr id="9" name="Text 7"/>
          <p:cNvSpPr/>
          <p:nvPr/>
        </p:nvSpPr>
        <p:spPr>
          <a:xfrm>
            <a:off x="228600" y="2331720"/>
            <a:ext cx="2057400" cy="320040"/>
          </a:xfrm>
          <a:prstGeom prst="rect">
            <a:avLst/>
          </a:prstGeom>
          <a:noFill/>
          <a:ln/>
        </p:spPr>
        <p:txBody>
          <a:bodyPr wrap="square" lIns="0" tIns="0" rIns="0" bIns="0" rtlCol="0" anchor="ctr"/>
          <a:lstStyle/>
          <a:p>
            <a:pPr marL="0" indent="0" algn="ctr">
              <a:buNone/>
            </a:pPr>
            <a:r>
              <a:rPr lang="en-US" sz="900" dirty="0">
                <a:solidFill>
                  <a:srgbClr val="B0C4DE"/>
                </a:solidFill>
                <a:latin typeface="Calibri" pitchFamily="34" charset="0"/>
                <a:ea typeface="Calibri" pitchFamily="34" charset="-122"/>
                <a:cs typeface="Calibri" pitchFamily="34" charset="-120"/>
              </a:rPr>
              <a:t>World Bank dataset</a:t>
            </a:r>
            <a:endParaRPr lang="en-US" sz="900" dirty="0"/>
          </a:p>
        </p:txBody>
      </p:sp>
      <p:sp>
        <p:nvSpPr>
          <p:cNvPr id="10" name="Shape 8"/>
          <p:cNvSpPr/>
          <p:nvPr/>
        </p:nvSpPr>
        <p:spPr>
          <a:xfrm>
            <a:off x="2441448" y="1143000"/>
            <a:ext cx="2057400" cy="1554480"/>
          </a:xfrm>
          <a:prstGeom prst="rect">
            <a:avLst/>
          </a:prstGeom>
          <a:solidFill>
            <a:srgbClr val="0D1B2A"/>
          </a:solidFill>
          <a:ln w="12700">
            <a:solidFill>
              <a:srgbClr val="0D1B2A"/>
            </a:solidFill>
            <a:prstDash val="solid"/>
          </a:ln>
          <a:effectLst>
            <a:outerShdw blurRad="101600" dist="25400" dir="8100000" algn="bl" rotWithShape="0">
              <a:srgbClr val="000000">
                <a:alpha val="18000"/>
              </a:srgbClr>
            </a:outerShdw>
          </a:effectLst>
        </p:spPr>
        <p:txBody>
          <a:bodyPr/>
          <a:lstStyle/>
          <a:p>
            <a:endParaRPr lang="en-US"/>
          </a:p>
        </p:txBody>
      </p:sp>
      <p:sp>
        <p:nvSpPr>
          <p:cNvPr id="11" name="Shape 9"/>
          <p:cNvSpPr/>
          <p:nvPr/>
        </p:nvSpPr>
        <p:spPr>
          <a:xfrm>
            <a:off x="2441448" y="1143000"/>
            <a:ext cx="2057400" cy="73152"/>
          </a:xfrm>
          <a:prstGeom prst="rect">
            <a:avLst/>
          </a:prstGeom>
          <a:solidFill>
            <a:srgbClr val="F5A623"/>
          </a:solidFill>
          <a:ln w="12700">
            <a:solidFill>
              <a:srgbClr val="F5A623"/>
            </a:solidFill>
            <a:prstDash val="solid"/>
          </a:ln>
        </p:spPr>
        <p:txBody>
          <a:bodyPr/>
          <a:lstStyle/>
          <a:p>
            <a:endParaRPr lang="en-US"/>
          </a:p>
        </p:txBody>
      </p:sp>
      <p:sp>
        <p:nvSpPr>
          <p:cNvPr id="12" name="Text 10"/>
          <p:cNvSpPr/>
          <p:nvPr/>
        </p:nvSpPr>
        <p:spPr>
          <a:xfrm>
            <a:off x="2441448" y="1216152"/>
            <a:ext cx="2057400" cy="749808"/>
          </a:xfrm>
          <a:prstGeom prst="rect">
            <a:avLst/>
          </a:prstGeom>
          <a:noFill/>
          <a:ln/>
        </p:spPr>
        <p:txBody>
          <a:bodyPr wrap="square" lIns="0" tIns="0" rIns="0" bIns="0" rtlCol="0" anchor="ctr"/>
          <a:lstStyle/>
          <a:p>
            <a:pPr marL="0" indent="0" algn="ctr">
              <a:buNone/>
            </a:pPr>
            <a:r>
              <a:rPr lang="en-US" sz="3200" b="1" dirty="0">
                <a:solidFill>
                  <a:srgbClr val="F5A623"/>
                </a:solidFill>
                <a:latin typeface="Calibri" pitchFamily="34" charset="0"/>
                <a:ea typeface="Calibri" pitchFamily="34" charset="-122"/>
                <a:cs typeface="Calibri" pitchFamily="34" charset="-120"/>
              </a:rPr>
              <a:t>23</a:t>
            </a:r>
            <a:endParaRPr lang="en-US" sz="3200" dirty="0"/>
          </a:p>
        </p:txBody>
      </p:sp>
      <p:sp>
        <p:nvSpPr>
          <p:cNvPr id="13" name="Text 11"/>
          <p:cNvSpPr/>
          <p:nvPr/>
        </p:nvSpPr>
        <p:spPr>
          <a:xfrm>
            <a:off x="2441448" y="1965960"/>
            <a:ext cx="2057400"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Countries in Recession</a:t>
            </a:r>
            <a:endParaRPr lang="en-US" sz="1050" dirty="0"/>
          </a:p>
        </p:txBody>
      </p:sp>
      <p:sp>
        <p:nvSpPr>
          <p:cNvPr id="14" name="Text 12"/>
          <p:cNvSpPr/>
          <p:nvPr/>
        </p:nvSpPr>
        <p:spPr>
          <a:xfrm>
            <a:off x="2441448" y="2331720"/>
            <a:ext cx="2057400" cy="320040"/>
          </a:xfrm>
          <a:prstGeom prst="rect">
            <a:avLst/>
          </a:prstGeom>
          <a:noFill/>
          <a:ln/>
        </p:spPr>
        <p:txBody>
          <a:bodyPr wrap="square" lIns="0" tIns="0" rIns="0" bIns="0" rtlCol="0" anchor="ctr"/>
          <a:lstStyle/>
          <a:p>
            <a:pPr marL="0" indent="0" algn="ctr">
              <a:buNone/>
            </a:pPr>
            <a:r>
              <a:rPr lang="en-US" sz="900" dirty="0">
                <a:solidFill>
                  <a:srgbClr val="B0C4DE"/>
                </a:solidFill>
                <a:latin typeface="Calibri" pitchFamily="34" charset="0"/>
                <a:ea typeface="Calibri" pitchFamily="34" charset="-122"/>
                <a:cs typeface="Calibri" pitchFamily="34" charset="-120"/>
              </a:rPr>
              <a:t>Currently identified</a:t>
            </a:r>
            <a:endParaRPr lang="en-US" sz="900" dirty="0"/>
          </a:p>
        </p:txBody>
      </p:sp>
      <p:sp>
        <p:nvSpPr>
          <p:cNvPr id="15" name="Shape 13"/>
          <p:cNvSpPr/>
          <p:nvPr/>
        </p:nvSpPr>
        <p:spPr>
          <a:xfrm>
            <a:off x="4654296" y="1143000"/>
            <a:ext cx="2057400" cy="1554480"/>
          </a:xfrm>
          <a:prstGeom prst="rect">
            <a:avLst/>
          </a:prstGeom>
          <a:solidFill>
            <a:srgbClr val="0D1B2A"/>
          </a:solidFill>
          <a:ln w="12700">
            <a:solidFill>
              <a:srgbClr val="0D1B2A"/>
            </a:solidFill>
            <a:prstDash val="solid"/>
          </a:ln>
          <a:effectLst>
            <a:outerShdw blurRad="101600" dist="25400" dir="8100000" algn="bl" rotWithShape="0">
              <a:srgbClr val="000000">
                <a:alpha val="18000"/>
              </a:srgbClr>
            </a:outerShdw>
          </a:effectLst>
        </p:spPr>
        <p:txBody>
          <a:bodyPr/>
          <a:lstStyle/>
          <a:p>
            <a:endParaRPr lang="en-US"/>
          </a:p>
        </p:txBody>
      </p:sp>
      <p:sp>
        <p:nvSpPr>
          <p:cNvPr id="16" name="Shape 14"/>
          <p:cNvSpPr/>
          <p:nvPr/>
        </p:nvSpPr>
        <p:spPr>
          <a:xfrm>
            <a:off x="4654296" y="1143000"/>
            <a:ext cx="2057400" cy="73152"/>
          </a:xfrm>
          <a:prstGeom prst="rect">
            <a:avLst/>
          </a:prstGeom>
          <a:solidFill>
            <a:srgbClr val="00C9A7"/>
          </a:solidFill>
          <a:ln w="12700">
            <a:solidFill>
              <a:srgbClr val="00C9A7"/>
            </a:solidFill>
            <a:prstDash val="solid"/>
          </a:ln>
        </p:spPr>
        <p:txBody>
          <a:bodyPr/>
          <a:lstStyle/>
          <a:p>
            <a:endParaRPr lang="en-US"/>
          </a:p>
        </p:txBody>
      </p:sp>
      <p:sp>
        <p:nvSpPr>
          <p:cNvPr id="17" name="Text 15"/>
          <p:cNvSpPr/>
          <p:nvPr/>
        </p:nvSpPr>
        <p:spPr>
          <a:xfrm>
            <a:off x="4654296" y="1216152"/>
            <a:ext cx="2057400" cy="749808"/>
          </a:xfrm>
          <a:prstGeom prst="rect">
            <a:avLst/>
          </a:prstGeom>
          <a:noFill/>
          <a:ln/>
        </p:spPr>
        <p:txBody>
          <a:bodyPr wrap="square" lIns="0" tIns="0" rIns="0" bIns="0" rtlCol="0" anchor="ctr"/>
          <a:lstStyle/>
          <a:p>
            <a:pPr marL="0" indent="0" algn="ctr">
              <a:buNone/>
            </a:pPr>
            <a:r>
              <a:rPr lang="en-US" sz="3200" b="1" dirty="0">
                <a:solidFill>
                  <a:srgbClr val="00C9A7"/>
                </a:solidFill>
                <a:latin typeface="Calibri" pitchFamily="34" charset="0"/>
                <a:ea typeface="Calibri" pitchFamily="34" charset="-122"/>
                <a:cs typeface="Calibri" pitchFamily="34" charset="-120"/>
              </a:rPr>
              <a:t>3.41%</a:t>
            </a:r>
            <a:endParaRPr lang="en-US" sz="3200" dirty="0"/>
          </a:p>
        </p:txBody>
      </p:sp>
      <p:sp>
        <p:nvSpPr>
          <p:cNvPr id="18" name="Text 16"/>
          <p:cNvSpPr/>
          <p:nvPr/>
        </p:nvSpPr>
        <p:spPr>
          <a:xfrm>
            <a:off x="4654296" y="1965960"/>
            <a:ext cx="2057400"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Avg. GDP Growth</a:t>
            </a:r>
            <a:endParaRPr lang="en-US" sz="1050" dirty="0"/>
          </a:p>
        </p:txBody>
      </p:sp>
      <p:sp>
        <p:nvSpPr>
          <p:cNvPr id="19" name="Text 17"/>
          <p:cNvSpPr/>
          <p:nvPr/>
        </p:nvSpPr>
        <p:spPr>
          <a:xfrm>
            <a:off x="4654296" y="2331720"/>
            <a:ext cx="2057400" cy="320040"/>
          </a:xfrm>
          <a:prstGeom prst="rect">
            <a:avLst/>
          </a:prstGeom>
          <a:noFill/>
          <a:ln/>
        </p:spPr>
        <p:txBody>
          <a:bodyPr wrap="square" lIns="0" tIns="0" rIns="0" bIns="0" rtlCol="0" anchor="ctr"/>
          <a:lstStyle/>
          <a:p>
            <a:pPr marL="0" indent="0" algn="ctr">
              <a:buNone/>
            </a:pPr>
            <a:r>
              <a:rPr lang="en-US" sz="900" dirty="0">
                <a:solidFill>
                  <a:srgbClr val="B0C4DE"/>
                </a:solidFill>
                <a:latin typeface="Calibri" pitchFamily="34" charset="0"/>
                <a:ea typeface="Calibri" pitchFamily="34" charset="-122"/>
                <a:cs typeface="Calibri" pitchFamily="34" charset="-120"/>
              </a:rPr>
              <a:t>Global benchmark</a:t>
            </a:r>
            <a:endParaRPr lang="en-US" sz="900" dirty="0"/>
          </a:p>
        </p:txBody>
      </p:sp>
      <p:sp>
        <p:nvSpPr>
          <p:cNvPr id="20" name="Shape 18"/>
          <p:cNvSpPr/>
          <p:nvPr/>
        </p:nvSpPr>
        <p:spPr>
          <a:xfrm>
            <a:off x="6867144" y="1143000"/>
            <a:ext cx="2057400" cy="1554480"/>
          </a:xfrm>
          <a:prstGeom prst="rect">
            <a:avLst/>
          </a:prstGeom>
          <a:solidFill>
            <a:srgbClr val="0D1B2A"/>
          </a:solidFill>
          <a:ln w="12700">
            <a:solidFill>
              <a:srgbClr val="0D1B2A"/>
            </a:solidFill>
            <a:prstDash val="solid"/>
          </a:ln>
          <a:effectLst>
            <a:outerShdw blurRad="101600" dist="25400" dir="8100000" algn="bl" rotWithShape="0">
              <a:srgbClr val="000000">
                <a:alpha val="18000"/>
              </a:srgbClr>
            </a:outerShdw>
          </a:effectLst>
        </p:spPr>
        <p:txBody>
          <a:bodyPr/>
          <a:lstStyle/>
          <a:p>
            <a:endParaRPr lang="en-US"/>
          </a:p>
        </p:txBody>
      </p:sp>
      <p:sp>
        <p:nvSpPr>
          <p:cNvPr id="21" name="Shape 19"/>
          <p:cNvSpPr/>
          <p:nvPr/>
        </p:nvSpPr>
        <p:spPr>
          <a:xfrm>
            <a:off x="6867144" y="1143000"/>
            <a:ext cx="2057400" cy="73152"/>
          </a:xfrm>
          <a:prstGeom prst="rect">
            <a:avLst/>
          </a:prstGeom>
          <a:solidFill>
            <a:srgbClr val="E74C3C"/>
          </a:solidFill>
          <a:ln w="12700">
            <a:solidFill>
              <a:srgbClr val="E74C3C"/>
            </a:solidFill>
            <a:prstDash val="solid"/>
          </a:ln>
        </p:spPr>
        <p:txBody>
          <a:bodyPr/>
          <a:lstStyle/>
          <a:p>
            <a:endParaRPr lang="en-US"/>
          </a:p>
        </p:txBody>
      </p:sp>
      <p:sp>
        <p:nvSpPr>
          <p:cNvPr id="22" name="Text 20"/>
          <p:cNvSpPr/>
          <p:nvPr/>
        </p:nvSpPr>
        <p:spPr>
          <a:xfrm>
            <a:off x="6867144" y="1216152"/>
            <a:ext cx="2057400" cy="749808"/>
          </a:xfrm>
          <a:prstGeom prst="rect">
            <a:avLst/>
          </a:prstGeom>
          <a:noFill/>
          <a:ln/>
        </p:spPr>
        <p:txBody>
          <a:bodyPr wrap="square" lIns="0" tIns="0" rIns="0" bIns="0" rtlCol="0" anchor="ctr"/>
          <a:lstStyle/>
          <a:p>
            <a:pPr marL="0" indent="0" algn="ctr">
              <a:buNone/>
            </a:pPr>
            <a:r>
              <a:rPr lang="en-US" sz="3200" b="1" dirty="0">
                <a:solidFill>
                  <a:srgbClr val="E74C3C"/>
                </a:solidFill>
                <a:latin typeface="Calibri" pitchFamily="34" charset="0"/>
                <a:ea typeface="Calibri" pitchFamily="34" charset="-122"/>
                <a:cs typeface="Calibri" pitchFamily="34" charset="-120"/>
              </a:rPr>
              <a:t>0.44</a:t>
            </a:r>
            <a:endParaRPr lang="en-US" sz="3200" dirty="0"/>
          </a:p>
        </p:txBody>
      </p:sp>
      <p:sp>
        <p:nvSpPr>
          <p:cNvPr id="23" name="Text 21"/>
          <p:cNvSpPr/>
          <p:nvPr/>
        </p:nvSpPr>
        <p:spPr>
          <a:xfrm>
            <a:off x="6867144" y="1965960"/>
            <a:ext cx="2057400"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Aggregated Risk Score</a:t>
            </a:r>
            <a:endParaRPr lang="en-US" sz="1050" dirty="0"/>
          </a:p>
        </p:txBody>
      </p:sp>
      <p:sp>
        <p:nvSpPr>
          <p:cNvPr id="24" name="Text 22"/>
          <p:cNvSpPr/>
          <p:nvPr/>
        </p:nvSpPr>
        <p:spPr>
          <a:xfrm>
            <a:off x="6867144" y="2331720"/>
            <a:ext cx="2057400" cy="320040"/>
          </a:xfrm>
          <a:prstGeom prst="rect">
            <a:avLst/>
          </a:prstGeom>
          <a:noFill/>
          <a:ln/>
        </p:spPr>
        <p:txBody>
          <a:bodyPr wrap="square" lIns="0" tIns="0" rIns="0" bIns="0" rtlCol="0" anchor="ctr"/>
          <a:lstStyle/>
          <a:p>
            <a:pPr marL="0" indent="0" algn="ctr">
              <a:buNone/>
            </a:pPr>
            <a:r>
              <a:rPr lang="en-US" sz="900" dirty="0">
                <a:solidFill>
                  <a:srgbClr val="B0C4DE"/>
                </a:solidFill>
                <a:latin typeface="Calibri" pitchFamily="34" charset="0"/>
                <a:ea typeface="Calibri" pitchFamily="34" charset="-122"/>
                <a:cs typeface="Calibri" pitchFamily="34" charset="-120"/>
              </a:rPr>
              <a:t>Systematic risk index</a:t>
            </a:r>
            <a:endParaRPr lang="en-US" sz="900" dirty="0"/>
          </a:p>
        </p:txBody>
      </p:sp>
      <p:sp>
        <p:nvSpPr>
          <p:cNvPr id="25" name="Shape 23"/>
          <p:cNvSpPr/>
          <p:nvPr/>
        </p:nvSpPr>
        <p:spPr>
          <a:xfrm>
            <a:off x="228600" y="2880360"/>
            <a:ext cx="8686800" cy="1965960"/>
          </a:xfrm>
          <a:prstGeom prst="rect">
            <a:avLst/>
          </a:prstGeom>
          <a:solidFill>
            <a:srgbClr val="142233"/>
          </a:solidFill>
          <a:ln w="12700">
            <a:solidFill>
              <a:srgbClr val="1A2E47"/>
            </a:solidFill>
            <a:prstDash val="solid"/>
          </a:ln>
        </p:spPr>
        <p:txBody>
          <a:bodyPr/>
          <a:lstStyle/>
          <a:p>
            <a:endParaRPr lang="en-US"/>
          </a:p>
        </p:txBody>
      </p:sp>
      <p:sp>
        <p:nvSpPr>
          <p:cNvPr id="26" name="Text 24"/>
          <p:cNvSpPr/>
          <p:nvPr/>
        </p:nvSpPr>
        <p:spPr>
          <a:xfrm>
            <a:off x="457200" y="2999232"/>
            <a:ext cx="3657600" cy="320040"/>
          </a:xfrm>
          <a:prstGeom prst="rect">
            <a:avLst/>
          </a:prstGeom>
          <a:noFill/>
          <a:ln/>
        </p:spPr>
        <p:txBody>
          <a:bodyPr wrap="square" lIns="0" tIns="0" rIns="0" bIns="0" rtlCol="0" anchor="ctr"/>
          <a:lstStyle/>
          <a:p>
            <a:pPr marL="0" indent="0">
              <a:buNone/>
            </a:pPr>
            <a:r>
              <a:rPr lang="en-US" b="1" dirty="0">
                <a:solidFill>
                  <a:srgbClr val="00C9A7"/>
                </a:solidFill>
                <a:latin typeface="Calibri" pitchFamily="34" charset="0"/>
                <a:ea typeface="Calibri" pitchFamily="34" charset="-122"/>
                <a:cs typeface="Calibri" pitchFamily="34" charset="-120"/>
              </a:rPr>
              <a:t>Project Overview</a:t>
            </a:r>
            <a:endParaRPr lang="en-US" dirty="0"/>
          </a:p>
        </p:txBody>
      </p:sp>
      <p:sp>
        <p:nvSpPr>
          <p:cNvPr id="27" name="Text 25"/>
          <p:cNvSpPr/>
          <p:nvPr/>
        </p:nvSpPr>
        <p:spPr>
          <a:xfrm>
            <a:off x="457200" y="3337560"/>
            <a:ext cx="8321040" cy="1280160"/>
          </a:xfrm>
          <a:prstGeom prst="rect">
            <a:avLst/>
          </a:prstGeom>
          <a:noFill/>
          <a:ln/>
        </p:spPr>
        <p:txBody>
          <a:bodyPr wrap="square" lIns="0" tIns="0" rIns="0" bIns="0" rtlCol="0" anchor="t"/>
          <a:lstStyle/>
          <a:p>
            <a:pPr marL="0" indent="0">
              <a:buNone/>
            </a:pPr>
            <a:r>
              <a:rPr lang="en-US" sz="1600" dirty="0">
                <a:solidFill>
                  <a:srgbClr val="B0C4DE"/>
                </a:solidFill>
                <a:latin typeface="Calibri" pitchFamily="34" charset="0"/>
                <a:ea typeface="Calibri" pitchFamily="34" charset="-122"/>
                <a:cs typeface="Calibri" pitchFamily="34" charset="-120"/>
              </a:rPr>
              <a:t>This project evaluates the </a:t>
            </a:r>
            <a:r>
              <a:rPr lang="en-US" sz="1600" b="1" dirty="0">
                <a:solidFill>
                  <a:srgbClr val="FFFFFF"/>
                </a:solidFill>
                <a:latin typeface="Calibri" pitchFamily="34" charset="0"/>
                <a:ea typeface="Calibri" pitchFamily="34" charset="-122"/>
                <a:cs typeface="Calibri" pitchFamily="34" charset="-120"/>
              </a:rPr>
              <a:t>Global Export Resilience</a:t>
            </a:r>
            <a:r>
              <a:rPr lang="en-US" sz="1600" dirty="0">
                <a:solidFill>
                  <a:srgbClr val="B0C4DE"/>
                </a:solidFill>
                <a:latin typeface="Calibri" pitchFamily="34" charset="0"/>
                <a:ea typeface="Calibri" pitchFamily="34" charset="-122"/>
                <a:cs typeface="Calibri" pitchFamily="34" charset="-120"/>
              </a:rPr>
              <a:t> initiative, examining how banking crises affect international trade performance across </a:t>
            </a:r>
            <a:r>
              <a:rPr lang="en-US" sz="1600" b="1" dirty="0">
                <a:solidFill>
                  <a:srgbClr val="00C9A7"/>
                </a:solidFill>
                <a:latin typeface="Calibri" pitchFamily="34" charset="0"/>
                <a:ea typeface="Calibri" pitchFamily="34" charset="-122"/>
                <a:cs typeface="Calibri" pitchFamily="34" charset="-120"/>
              </a:rPr>
              <a:t>39,500+ industry-country observations</a:t>
            </a:r>
            <a:r>
              <a:rPr lang="en-US" sz="1600" dirty="0">
                <a:solidFill>
                  <a:srgbClr val="B0C4DE"/>
                </a:solidFill>
                <a:latin typeface="Calibri" pitchFamily="34" charset="0"/>
                <a:ea typeface="Calibri" pitchFamily="34" charset="-122"/>
                <a:cs typeface="Calibri" pitchFamily="34" charset="-120"/>
              </a:rPr>
              <a:t> sourced from the World Bank. Our Business Intelligence solution identifies sectoral vulnerabilities, evaluates policy effectiveness, and maps macro-financial linkages.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5A623"/>
          </a:solidFill>
          <a:ln w="12700">
            <a:solidFill>
              <a:srgbClr val="F5A623"/>
            </a:solidFill>
            <a:prstDash val="solid"/>
          </a:ln>
        </p:spPr>
        <p:txBody>
          <a:bodyPr/>
          <a:lstStyle/>
          <a:p>
            <a:endParaRPr lang="en-US"/>
          </a:p>
        </p:txBody>
      </p:sp>
      <p:sp>
        <p:nvSpPr>
          <p:cNvPr id="3" name="Text 1"/>
          <p:cNvSpPr/>
          <p:nvPr/>
        </p:nvSpPr>
        <p:spPr>
          <a:xfrm>
            <a:off x="274320" y="201168"/>
            <a:ext cx="8229600" cy="502920"/>
          </a:xfrm>
          <a:prstGeom prst="rect">
            <a:avLst/>
          </a:prstGeom>
          <a:noFill/>
          <a:ln/>
        </p:spPr>
        <p:txBody>
          <a:bodyPr wrap="square" lIns="0" tIns="0" rIns="0" bIns="0" rtlCol="0" anchor="ctr"/>
          <a:lstStyle/>
          <a:p>
            <a:pPr marL="0" indent="0">
              <a:buNone/>
            </a:pPr>
            <a:r>
              <a:rPr lang="en-US" sz="2200" b="1" kern="0" spc="200" dirty="0">
                <a:solidFill>
                  <a:srgbClr val="FFFFFF"/>
                </a:solidFill>
                <a:latin typeface="Calibri" pitchFamily="34" charset="0"/>
                <a:ea typeface="Calibri" pitchFamily="34" charset="-122"/>
                <a:cs typeface="Calibri" pitchFamily="34" charset="-120"/>
              </a:rPr>
              <a:t>RESEARCH FRAMEWORK</a:t>
            </a:r>
            <a:endParaRPr lang="en-US" sz="2200" dirty="0"/>
          </a:p>
        </p:txBody>
      </p:sp>
      <p:sp>
        <p:nvSpPr>
          <p:cNvPr id="4" name="Text 2"/>
          <p:cNvSpPr/>
          <p:nvPr/>
        </p:nvSpPr>
        <p:spPr>
          <a:xfrm>
            <a:off x="274320" y="749808"/>
            <a:ext cx="8229600" cy="292608"/>
          </a:xfrm>
          <a:prstGeom prst="rect">
            <a:avLst/>
          </a:prstGeom>
          <a:noFill/>
          <a:ln/>
        </p:spPr>
        <p:txBody>
          <a:bodyPr wrap="square" lIns="0" tIns="0" rIns="0" bIns="0" rtlCol="0" anchor="ctr"/>
          <a:lstStyle/>
          <a:p>
            <a:pPr marL="0" indent="0">
              <a:buNone/>
            </a:pPr>
            <a:r>
              <a:rPr lang="en-US" b="1" dirty="0">
                <a:solidFill>
                  <a:srgbClr val="F5A623"/>
                </a:solidFill>
                <a:latin typeface="Calibri" pitchFamily="34" charset="0"/>
                <a:ea typeface="Calibri" pitchFamily="34" charset="-122"/>
                <a:cs typeface="Calibri" pitchFamily="34" charset="-120"/>
              </a:rPr>
              <a:t>Problem Statement</a:t>
            </a:r>
            <a:endParaRPr lang="en-US" dirty="0"/>
          </a:p>
        </p:txBody>
      </p:sp>
      <p:sp>
        <p:nvSpPr>
          <p:cNvPr id="5" name="Text 3"/>
          <p:cNvSpPr/>
          <p:nvPr/>
        </p:nvSpPr>
        <p:spPr>
          <a:xfrm>
            <a:off x="274320" y="1051560"/>
            <a:ext cx="8503920" cy="658368"/>
          </a:xfrm>
          <a:prstGeom prst="rect">
            <a:avLst/>
          </a:prstGeom>
          <a:noFill/>
          <a:ln/>
        </p:spPr>
        <p:txBody>
          <a:bodyPr wrap="square" lIns="0" tIns="0" rIns="0" bIns="0" rtlCol="0" anchor="ctr"/>
          <a:lstStyle/>
          <a:p>
            <a:pPr marL="0" indent="0">
              <a:buNone/>
            </a:pPr>
            <a:r>
              <a:rPr lang="en-US" sz="1500" dirty="0">
                <a:solidFill>
                  <a:srgbClr val="B0C4DE"/>
                </a:solidFill>
                <a:latin typeface="Calibri" pitchFamily="34" charset="0"/>
                <a:ea typeface="Calibri" pitchFamily="34" charset="-122"/>
                <a:cs typeface="Calibri" pitchFamily="34" charset="-120"/>
              </a:rPr>
              <a:t>Banking crises create severe liquidity constraints disrupting trade flows. Impact is uneven across industries based on financial dependence (RZ) and asset tangibility (TANG). Limited empirical visibility exists into which sectors are most vulnerable and whether government interventions effectively mitigate damage.</a:t>
            </a:r>
            <a:endParaRPr lang="en-US" sz="1500" dirty="0"/>
          </a:p>
        </p:txBody>
      </p:sp>
      <p:sp>
        <p:nvSpPr>
          <p:cNvPr id="6" name="Shape 4"/>
          <p:cNvSpPr/>
          <p:nvPr/>
        </p:nvSpPr>
        <p:spPr>
          <a:xfrm>
            <a:off x="182880" y="1874520"/>
            <a:ext cx="1627632" cy="2944368"/>
          </a:xfrm>
          <a:prstGeom prst="rect">
            <a:avLst/>
          </a:prstGeom>
          <a:solidFill>
            <a:srgbClr val="142233"/>
          </a:solidFill>
          <a:ln w="12700">
            <a:solidFill>
              <a:srgbClr val="1A2E47"/>
            </a:solidFill>
            <a:prstDash val="solid"/>
          </a:ln>
        </p:spPr>
        <p:txBody>
          <a:bodyPr/>
          <a:lstStyle/>
          <a:p>
            <a:endParaRPr lang="en-US"/>
          </a:p>
        </p:txBody>
      </p:sp>
      <p:sp>
        <p:nvSpPr>
          <p:cNvPr id="7" name="Shape 5"/>
          <p:cNvSpPr/>
          <p:nvPr/>
        </p:nvSpPr>
        <p:spPr>
          <a:xfrm>
            <a:off x="182880" y="1874520"/>
            <a:ext cx="1627632" cy="64008"/>
          </a:xfrm>
          <a:prstGeom prst="rect">
            <a:avLst/>
          </a:prstGeom>
          <a:solidFill>
            <a:srgbClr val="00C9A7"/>
          </a:solidFill>
          <a:ln w="12700">
            <a:solidFill>
              <a:srgbClr val="00C9A7"/>
            </a:solidFill>
            <a:prstDash val="solid"/>
          </a:ln>
        </p:spPr>
        <p:txBody>
          <a:bodyPr/>
          <a:lstStyle/>
          <a:p>
            <a:endParaRPr lang="en-US"/>
          </a:p>
        </p:txBody>
      </p:sp>
      <p:sp>
        <p:nvSpPr>
          <p:cNvPr id="8" name="Text 6"/>
          <p:cNvSpPr/>
          <p:nvPr/>
        </p:nvSpPr>
        <p:spPr>
          <a:xfrm>
            <a:off x="182880" y="1938528"/>
            <a:ext cx="1627632" cy="502920"/>
          </a:xfrm>
          <a:prstGeom prst="rect">
            <a:avLst/>
          </a:prstGeom>
          <a:noFill/>
          <a:ln/>
        </p:spPr>
        <p:txBody>
          <a:bodyPr wrap="square" lIns="0" tIns="0" rIns="0" bIns="0" rtlCol="0" anchor="ctr"/>
          <a:lstStyle/>
          <a:p>
            <a:pPr marL="0" indent="0" algn="ctr">
              <a:buNone/>
            </a:pPr>
            <a:r>
              <a:rPr lang="en-US" sz="2400" b="1" dirty="0">
                <a:solidFill>
                  <a:srgbClr val="00C9A7"/>
                </a:solidFill>
                <a:latin typeface="Calibri" pitchFamily="34" charset="0"/>
                <a:ea typeface="Calibri" pitchFamily="34" charset="-122"/>
                <a:cs typeface="Calibri" pitchFamily="34" charset="-120"/>
              </a:rPr>
              <a:t>Q1</a:t>
            </a:r>
            <a:endParaRPr lang="en-US" sz="2400" dirty="0"/>
          </a:p>
        </p:txBody>
      </p:sp>
      <p:sp>
        <p:nvSpPr>
          <p:cNvPr id="9" name="Text 7"/>
          <p:cNvSpPr/>
          <p:nvPr/>
        </p:nvSpPr>
        <p:spPr>
          <a:xfrm>
            <a:off x="274320" y="2450592"/>
            <a:ext cx="1444752" cy="47548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Crisis Impact</a:t>
            </a:r>
            <a:endParaRPr lang="en-US" sz="1200" dirty="0"/>
          </a:p>
        </p:txBody>
      </p:sp>
      <p:sp>
        <p:nvSpPr>
          <p:cNvPr id="10" name="Text 8"/>
          <p:cNvSpPr/>
          <p:nvPr/>
        </p:nvSpPr>
        <p:spPr>
          <a:xfrm>
            <a:off x="274320" y="2944368"/>
            <a:ext cx="1444752" cy="1737360"/>
          </a:xfrm>
          <a:prstGeom prst="rect">
            <a:avLst/>
          </a:prstGeom>
          <a:noFill/>
          <a:ln/>
        </p:spPr>
        <p:txBody>
          <a:bodyPr wrap="square" lIns="0" tIns="0" rIns="0" bIns="0" rtlCol="0" anchor="t"/>
          <a:lstStyle/>
          <a:p>
            <a:pPr marL="0" indent="0">
              <a:buNone/>
            </a:pPr>
            <a:r>
              <a:rPr lang="en-US" sz="1200" dirty="0">
                <a:solidFill>
                  <a:srgbClr val="B0C4DE"/>
                </a:solidFill>
                <a:latin typeface="Calibri" pitchFamily="34" charset="0"/>
                <a:ea typeface="Calibri" pitchFamily="34" charset="-122"/>
                <a:cs typeface="Calibri" pitchFamily="34" charset="-120"/>
              </a:rPr>
              <a:t>How much does export growth drop during a banking crisis vs. stable periods?</a:t>
            </a:r>
            <a:endParaRPr lang="en-US" sz="1200" dirty="0"/>
          </a:p>
        </p:txBody>
      </p:sp>
      <p:sp>
        <p:nvSpPr>
          <p:cNvPr id="11" name="Shape 9"/>
          <p:cNvSpPr/>
          <p:nvPr/>
        </p:nvSpPr>
        <p:spPr>
          <a:xfrm>
            <a:off x="1956816" y="1874520"/>
            <a:ext cx="1627632" cy="2944368"/>
          </a:xfrm>
          <a:prstGeom prst="rect">
            <a:avLst/>
          </a:prstGeom>
          <a:solidFill>
            <a:srgbClr val="142233"/>
          </a:solidFill>
          <a:ln w="12700">
            <a:solidFill>
              <a:srgbClr val="1A2E47"/>
            </a:solidFill>
            <a:prstDash val="solid"/>
          </a:ln>
        </p:spPr>
        <p:txBody>
          <a:bodyPr/>
          <a:lstStyle/>
          <a:p>
            <a:endParaRPr lang="en-US"/>
          </a:p>
        </p:txBody>
      </p:sp>
      <p:sp>
        <p:nvSpPr>
          <p:cNvPr id="12" name="Shape 10"/>
          <p:cNvSpPr/>
          <p:nvPr/>
        </p:nvSpPr>
        <p:spPr>
          <a:xfrm>
            <a:off x="1956816" y="1874520"/>
            <a:ext cx="1627632" cy="64008"/>
          </a:xfrm>
          <a:prstGeom prst="rect">
            <a:avLst/>
          </a:prstGeom>
          <a:solidFill>
            <a:srgbClr val="2196C4"/>
          </a:solidFill>
          <a:ln w="12700">
            <a:solidFill>
              <a:srgbClr val="2196C4"/>
            </a:solidFill>
            <a:prstDash val="solid"/>
          </a:ln>
        </p:spPr>
        <p:txBody>
          <a:bodyPr/>
          <a:lstStyle/>
          <a:p>
            <a:endParaRPr lang="en-US"/>
          </a:p>
        </p:txBody>
      </p:sp>
      <p:sp>
        <p:nvSpPr>
          <p:cNvPr id="13" name="Text 11"/>
          <p:cNvSpPr/>
          <p:nvPr/>
        </p:nvSpPr>
        <p:spPr>
          <a:xfrm>
            <a:off x="1956816" y="1938528"/>
            <a:ext cx="1627632" cy="502920"/>
          </a:xfrm>
          <a:prstGeom prst="rect">
            <a:avLst/>
          </a:prstGeom>
          <a:noFill/>
          <a:ln/>
        </p:spPr>
        <p:txBody>
          <a:bodyPr wrap="square" lIns="0" tIns="0" rIns="0" bIns="0" rtlCol="0" anchor="ctr"/>
          <a:lstStyle/>
          <a:p>
            <a:pPr marL="0" indent="0" algn="ctr">
              <a:buNone/>
            </a:pPr>
            <a:r>
              <a:rPr lang="en-US" sz="2400" b="1" dirty="0">
                <a:solidFill>
                  <a:srgbClr val="2196C4"/>
                </a:solidFill>
                <a:latin typeface="Calibri" pitchFamily="34" charset="0"/>
                <a:ea typeface="Calibri" pitchFamily="34" charset="-122"/>
                <a:cs typeface="Calibri" pitchFamily="34" charset="-120"/>
              </a:rPr>
              <a:t>Q2</a:t>
            </a:r>
            <a:endParaRPr lang="en-US" sz="2400" dirty="0"/>
          </a:p>
        </p:txBody>
      </p:sp>
      <p:sp>
        <p:nvSpPr>
          <p:cNvPr id="14" name="Text 12"/>
          <p:cNvSpPr/>
          <p:nvPr/>
        </p:nvSpPr>
        <p:spPr>
          <a:xfrm>
            <a:off x="2048256" y="2450592"/>
            <a:ext cx="1444752" cy="47548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Sectoral Vulnerability</a:t>
            </a:r>
            <a:endParaRPr lang="en-US" sz="1200" dirty="0"/>
          </a:p>
        </p:txBody>
      </p:sp>
      <p:sp>
        <p:nvSpPr>
          <p:cNvPr id="15" name="Text 13"/>
          <p:cNvSpPr/>
          <p:nvPr/>
        </p:nvSpPr>
        <p:spPr>
          <a:xfrm>
            <a:off x="2048256" y="2944368"/>
            <a:ext cx="1444752" cy="1737360"/>
          </a:xfrm>
          <a:prstGeom prst="rect">
            <a:avLst/>
          </a:prstGeom>
          <a:noFill/>
          <a:ln/>
        </p:spPr>
        <p:txBody>
          <a:bodyPr wrap="square" lIns="0" tIns="0" rIns="0" bIns="0" rtlCol="0" anchor="t"/>
          <a:lstStyle/>
          <a:p>
            <a:pPr marL="0" indent="0">
              <a:buNone/>
            </a:pPr>
            <a:r>
              <a:rPr lang="en-US" sz="1200" dirty="0">
                <a:solidFill>
                  <a:srgbClr val="B0C4DE"/>
                </a:solidFill>
                <a:latin typeface="Calibri" pitchFamily="34" charset="0"/>
                <a:ea typeface="Calibri" pitchFamily="34" charset="-122"/>
                <a:cs typeface="Calibri" pitchFamily="34" charset="-120"/>
              </a:rPr>
              <a:t>Are high-RZ industries more affected by output losses than tangible-asset industries?</a:t>
            </a:r>
            <a:endParaRPr lang="en-US" sz="1200" dirty="0"/>
          </a:p>
        </p:txBody>
      </p:sp>
      <p:sp>
        <p:nvSpPr>
          <p:cNvPr id="16" name="Shape 14"/>
          <p:cNvSpPr/>
          <p:nvPr/>
        </p:nvSpPr>
        <p:spPr>
          <a:xfrm>
            <a:off x="3730752" y="1874520"/>
            <a:ext cx="1627632" cy="2944368"/>
          </a:xfrm>
          <a:prstGeom prst="rect">
            <a:avLst/>
          </a:prstGeom>
          <a:solidFill>
            <a:srgbClr val="142233"/>
          </a:solidFill>
          <a:ln w="12700">
            <a:solidFill>
              <a:srgbClr val="1A2E47"/>
            </a:solidFill>
            <a:prstDash val="solid"/>
          </a:ln>
        </p:spPr>
        <p:txBody>
          <a:bodyPr/>
          <a:lstStyle/>
          <a:p>
            <a:endParaRPr lang="en-US"/>
          </a:p>
        </p:txBody>
      </p:sp>
      <p:sp>
        <p:nvSpPr>
          <p:cNvPr id="17" name="Shape 15"/>
          <p:cNvSpPr/>
          <p:nvPr/>
        </p:nvSpPr>
        <p:spPr>
          <a:xfrm>
            <a:off x="3730752" y="1874520"/>
            <a:ext cx="1627632" cy="64008"/>
          </a:xfrm>
          <a:prstGeom prst="rect">
            <a:avLst/>
          </a:prstGeom>
          <a:solidFill>
            <a:srgbClr val="F5A623"/>
          </a:solidFill>
          <a:ln w="12700">
            <a:solidFill>
              <a:srgbClr val="F5A623"/>
            </a:solidFill>
            <a:prstDash val="solid"/>
          </a:ln>
        </p:spPr>
        <p:txBody>
          <a:bodyPr/>
          <a:lstStyle/>
          <a:p>
            <a:endParaRPr lang="en-US"/>
          </a:p>
        </p:txBody>
      </p:sp>
      <p:sp>
        <p:nvSpPr>
          <p:cNvPr id="18" name="Text 16"/>
          <p:cNvSpPr/>
          <p:nvPr/>
        </p:nvSpPr>
        <p:spPr>
          <a:xfrm>
            <a:off x="3730752" y="1938528"/>
            <a:ext cx="1627632" cy="502920"/>
          </a:xfrm>
          <a:prstGeom prst="rect">
            <a:avLst/>
          </a:prstGeom>
          <a:noFill/>
          <a:ln/>
        </p:spPr>
        <p:txBody>
          <a:bodyPr wrap="square" lIns="0" tIns="0" rIns="0" bIns="0" rtlCol="0" anchor="ctr"/>
          <a:lstStyle/>
          <a:p>
            <a:pPr marL="0" indent="0" algn="ctr">
              <a:buNone/>
            </a:pPr>
            <a:r>
              <a:rPr lang="en-US" sz="2400" b="1" dirty="0">
                <a:solidFill>
                  <a:srgbClr val="F5A623"/>
                </a:solidFill>
                <a:latin typeface="Calibri" pitchFamily="34" charset="0"/>
                <a:ea typeface="Calibri" pitchFamily="34" charset="-122"/>
                <a:cs typeface="Calibri" pitchFamily="34" charset="-120"/>
              </a:rPr>
              <a:t>Q3</a:t>
            </a:r>
            <a:endParaRPr lang="en-US" sz="2400" dirty="0"/>
          </a:p>
        </p:txBody>
      </p:sp>
      <p:sp>
        <p:nvSpPr>
          <p:cNvPr id="19" name="Text 17"/>
          <p:cNvSpPr/>
          <p:nvPr/>
        </p:nvSpPr>
        <p:spPr>
          <a:xfrm>
            <a:off x="3822192" y="2450592"/>
            <a:ext cx="1444752" cy="47548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Policy Effectiveness</a:t>
            </a:r>
            <a:endParaRPr lang="en-US" sz="1200" dirty="0"/>
          </a:p>
        </p:txBody>
      </p:sp>
      <p:sp>
        <p:nvSpPr>
          <p:cNvPr id="20" name="Text 18"/>
          <p:cNvSpPr/>
          <p:nvPr/>
        </p:nvSpPr>
        <p:spPr>
          <a:xfrm>
            <a:off x="3822192" y="2944368"/>
            <a:ext cx="1444752" cy="1737360"/>
          </a:xfrm>
          <a:prstGeom prst="rect">
            <a:avLst/>
          </a:prstGeom>
          <a:noFill/>
          <a:ln/>
        </p:spPr>
        <p:txBody>
          <a:bodyPr wrap="square" lIns="0" tIns="0" rIns="0" bIns="0" rtlCol="0" anchor="t"/>
          <a:lstStyle/>
          <a:p>
            <a:pPr marL="0" indent="0">
              <a:buNone/>
            </a:pPr>
            <a:r>
              <a:rPr lang="en-US" sz="1200" dirty="0">
                <a:solidFill>
                  <a:srgbClr val="B0C4DE"/>
                </a:solidFill>
                <a:latin typeface="Calibri" pitchFamily="34" charset="0"/>
                <a:ea typeface="Calibri" pitchFamily="34" charset="-122"/>
                <a:cs typeface="Calibri" pitchFamily="34" charset="-120"/>
              </a:rPr>
              <a:t>Which policy — liquidity support, recapitalization, or debt relief — drives fastest recovery?</a:t>
            </a:r>
            <a:endParaRPr lang="en-US" sz="1200" dirty="0"/>
          </a:p>
        </p:txBody>
      </p:sp>
      <p:sp>
        <p:nvSpPr>
          <p:cNvPr id="21" name="Shape 19"/>
          <p:cNvSpPr/>
          <p:nvPr/>
        </p:nvSpPr>
        <p:spPr>
          <a:xfrm>
            <a:off x="5504688" y="1874520"/>
            <a:ext cx="1627632" cy="2944368"/>
          </a:xfrm>
          <a:prstGeom prst="rect">
            <a:avLst/>
          </a:prstGeom>
          <a:solidFill>
            <a:srgbClr val="142233"/>
          </a:solidFill>
          <a:ln w="12700">
            <a:solidFill>
              <a:srgbClr val="1A2E47"/>
            </a:solidFill>
            <a:prstDash val="solid"/>
          </a:ln>
        </p:spPr>
        <p:txBody>
          <a:bodyPr/>
          <a:lstStyle/>
          <a:p>
            <a:endParaRPr lang="en-US"/>
          </a:p>
        </p:txBody>
      </p:sp>
      <p:sp>
        <p:nvSpPr>
          <p:cNvPr id="22" name="Shape 20"/>
          <p:cNvSpPr/>
          <p:nvPr/>
        </p:nvSpPr>
        <p:spPr>
          <a:xfrm>
            <a:off x="5504688" y="1874520"/>
            <a:ext cx="1627632" cy="64008"/>
          </a:xfrm>
          <a:prstGeom prst="rect">
            <a:avLst/>
          </a:prstGeom>
          <a:solidFill>
            <a:srgbClr val="9B59B6"/>
          </a:solidFill>
          <a:ln w="12700">
            <a:solidFill>
              <a:srgbClr val="9B59B6"/>
            </a:solidFill>
            <a:prstDash val="solid"/>
          </a:ln>
        </p:spPr>
        <p:txBody>
          <a:bodyPr/>
          <a:lstStyle/>
          <a:p>
            <a:endParaRPr lang="en-US"/>
          </a:p>
        </p:txBody>
      </p:sp>
      <p:sp>
        <p:nvSpPr>
          <p:cNvPr id="23" name="Text 21"/>
          <p:cNvSpPr/>
          <p:nvPr/>
        </p:nvSpPr>
        <p:spPr>
          <a:xfrm>
            <a:off x="5504688" y="1938528"/>
            <a:ext cx="1627632" cy="502920"/>
          </a:xfrm>
          <a:prstGeom prst="rect">
            <a:avLst/>
          </a:prstGeom>
          <a:noFill/>
          <a:ln/>
        </p:spPr>
        <p:txBody>
          <a:bodyPr wrap="square" lIns="0" tIns="0" rIns="0" bIns="0" rtlCol="0" anchor="ctr"/>
          <a:lstStyle/>
          <a:p>
            <a:pPr marL="0" indent="0" algn="ctr">
              <a:buNone/>
            </a:pPr>
            <a:r>
              <a:rPr lang="en-US" sz="2400" b="1" dirty="0">
                <a:solidFill>
                  <a:srgbClr val="9B59B6"/>
                </a:solidFill>
                <a:latin typeface="Calibri" pitchFamily="34" charset="0"/>
                <a:ea typeface="Calibri" pitchFamily="34" charset="-122"/>
                <a:cs typeface="Calibri" pitchFamily="34" charset="-120"/>
              </a:rPr>
              <a:t>Q4</a:t>
            </a:r>
            <a:endParaRPr lang="en-US" sz="2400" dirty="0"/>
          </a:p>
        </p:txBody>
      </p:sp>
      <p:sp>
        <p:nvSpPr>
          <p:cNvPr id="24" name="Text 22"/>
          <p:cNvSpPr/>
          <p:nvPr/>
        </p:nvSpPr>
        <p:spPr>
          <a:xfrm>
            <a:off x="5596128" y="2450592"/>
            <a:ext cx="1444752" cy="47548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Macro-Financial Interaction</a:t>
            </a:r>
            <a:endParaRPr lang="en-US" sz="1200" dirty="0"/>
          </a:p>
        </p:txBody>
      </p:sp>
      <p:sp>
        <p:nvSpPr>
          <p:cNvPr id="25" name="Text 23"/>
          <p:cNvSpPr/>
          <p:nvPr/>
        </p:nvSpPr>
        <p:spPr>
          <a:xfrm>
            <a:off x="5596128" y="2944368"/>
            <a:ext cx="1444752" cy="1737360"/>
          </a:xfrm>
          <a:prstGeom prst="rect">
            <a:avLst/>
          </a:prstGeom>
          <a:noFill/>
          <a:ln/>
        </p:spPr>
        <p:txBody>
          <a:bodyPr wrap="square" lIns="0" tIns="0" rIns="0" bIns="0" rtlCol="0" anchor="t"/>
          <a:lstStyle/>
          <a:p>
            <a:pPr marL="0" indent="0">
              <a:buNone/>
            </a:pPr>
            <a:r>
              <a:rPr lang="en-US" sz="1200" dirty="0">
                <a:solidFill>
                  <a:srgbClr val="B0C4DE"/>
                </a:solidFill>
                <a:latin typeface="Calibri" pitchFamily="34" charset="0"/>
                <a:ea typeface="Calibri" pitchFamily="34" charset="-122"/>
                <a:cs typeface="Calibri" pitchFamily="34" charset="-120"/>
              </a:rPr>
              <a:t>Does banking system strength (pcrdbofgdp) influence export decline severity?</a:t>
            </a:r>
            <a:endParaRPr lang="en-US" sz="1200" dirty="0"/>
          </a:p>
        </p:txBody>
      </p:sp>
      <p:sp>
        <p:nvSpPr>
          <p:cNvPr id="26" name="Shape 24"/>
          <p:cNvSpPr/>
          <p:nvPr/>
        </p:nvSpPr>
        <p:spPr>
          <a:xfrm>
            <a:off x="7278624" y="1874520"/>
            <a:ext cx="1627632" cy="2944368"/>
          </a:xfrm>
          <a:prstGeom prst="rect">
            <a:avLst/>
          </a:prstGeom>
          <a:solidFill>
            <a:srgbClr val="142233"/>
          </a:solidFill>
          <a:ln w="12700">
            <a:solidFill>
              <a:srgbClr val="1A2E47"/>
            </a:solidFill>
            <a:prstDash val="solid"/>
          </a:ln>
        </p:spPr>
        <p:txBody>
          <a:bodyPr/>
          <a:lstStyle/>
          <a:p>
            <a:endParaRPr lang="en-US"/>
          </a:p>
        </p:txBody>
      </p:sp>
      <p:sp>
        <p:nvSpPr>
          <p:cNvPr id="27" name="Shape 25"/>
          <p:cNvSpPr/>
          <p:nvPr/>
        </p:nvSpPr>
        <p:spPr>
          <a:xfrm>
            <a:off x="7278624" y="1874520"/>
            <a:ext cx="1627632" cy="64008"/>
          </a:xfrm>
          <a:prstGeom prst="rect">
            <a:avLst/>
          </a:prstGeom>
          <a:solidFill>
            <a:srgbClr val="E74C3C"/>
          </a:solidFill>
          <a:ln w="12700">
            <a:solidFill>
              <a:srgbClr val="E74C3C"/>
            </a:solidFill>
            <a:prstDash val="solid"/>
          </a:ln>
        </p:spPr>
        <p:txBody>
          <a:bodyPr/>
          <a:lstStyle/>
          <a:p>
            <a:endParaRPr lang="en-US"/>
          </a:p>
        </p:txBody>
      </p:sp>
      <p:sp>
        <p:nvSpPr>
          <p:cNvPr id="28" name="Text 26"/>
          <p:cNvSpPr/>
          <p:nvPr/>
        </p:nvSpPr>
        <p:spPr>
          <a:xfrm>
            <a:off x="7278624" y="1938528"/>
            <a:ext cx="1627632" cy="502920"/>
          </a:xfrm>
          <a:prstGeom prst="rect">
            <a:avLst/>
          </a:prstGeom>
          <a:noFill/>
          <a:ln/>
        </p:spPr>
        <p:txBody>
          <a:bodyPr wrap="square" lIns="0" tIns="0" rIns="0" bIns="0" rtlCol="0" anchor="ctr"/>
          <a:lstStyle/>
          <a:p>
            <a:pPr marL="0" indent="0" algn="ctr">
              <a:buNone/>
            </a:pPr>
            <a:r>
              <a:rPr lang="en-US" sz="2400" b="1" dirty="0">
                <a:solidFill>
                  <a:srgbClr val="E74C3C"/>
                </a:solidFill>
                <a:latin typeface="Calibri" pitchFamily="34" charset="0"/>
                <a:ea typeface="Calibri" pitchFamily="34" charset="-122"/>
                <a:cs typeface="Calibri" pitchFamily="34" charset="-120"/>
              </a:rPr>
              <a:t>Q5</a:t>
            </a:r>
            <a:endParaRPr lang="en-US" sz="2400" dirty="0"/>
          </a:p>
        </p:txBody>
      </p:sp>
      <p:sp>
        <p:nvSpPr>
          <p:cNvPr id="29" name="Text 27"/>
          <p:cNvSpPr/>
          <p:nvPr/>
        </p:nvSpPr>
        <p:spPr>
          <a:xfrm>
            <a:off x="7370064" y="2450592"/>
            <a:ext cx="1444752" cy="47548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Global Sensitivity</a:t>
            </a:r>
            <a:endParaRPr lang="en-US" sz="1200" dirty="0"/>
          </a:p>
        </p:txBody>
      </p:sp>
      <p:sp>
        <p:nvSpPr>
          <p:cNvPr id="30" name="Text 28"/>
          <p:cNvSpPr/>
          <p:nvPr/>
        </p:nvSpPr>
        <p:spPr>
          <a:xfrm>
            <a:off x="7370064" y="2944368"/>
            <a:ext cx="1444752" cy="1737360"/>
          </a:xfrm>
          <a:prstGeom prst="rect">
            <a:avLst/>
          </a:prstGeom>
          <a:noFill/>
          <a:ln/>
        </p:spPr>
        <p:txBody>
          <a:bodyPr wrap="square" lIns="0" tIns="0" rIns="0" bIns="0" rtlCol="0" anchor="t"/>
          <a:lstStyle/>
          <a:p>
            <a:pPr marL="0" indent="0">
              <a:buNone/>
            </a:pPr>
            <a:r>
              <a:rPr lang="en-US" sz="1200" dirty="0">
                <a:solidFill>
                  <a:srgbClr val="B0C4DE"/>
                </a:solidFill>
                <a:latin typeface="Calibri" pitchFamily="34" charset="0"/>
                <a:ea typeface="Calibri" pitchFamily="34" charset="-122"/>
                <a:cs typeface="Calibri" pitchFamily="34" charset="-120"/>
              </a:rPr>
              <a:t>How does a foreign recession affect developed vs. developing countries' export share?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US"/>
          </a:p>
        </p:txBody>
      </p:sp>
      <p:sp>
        <p:nvSpPr>
          <p:cNvPr id="3" name="Shape 1"/>
          <p:cNvSpPr/>
          <p:nvPr/>
        </p:nvSpPr>
        <p:spPr>
          <a:xfrm>
            <a:off x="0" y="0"/>
            <a:ext cx="64008" cy="5143500"/>
          </a:xfrm>
          <a:prstGeom prst="rect">
            <a:avLst/>
          </a:prstGeom>
          <a:solidFill>
            <a:srgbClr val="2196C4"/>
          </a:solidFill>
          <a:ln w="12700">
            <a:solidFill>
              <a:srgbClr val="2196C4"/>
            </a:solidFill>
            <a:prstDash val="solid"/>
          </a:ln>
        </p:spPr>
        <p:txBody>
          <a:bodyPr/>
          <a:lstStyle/>
          <a:p>
            <a:endParaRPr lang="en-US"/>
          </a:p>
        </p:txBody>
      </p:sp>
      <p:sp>
        <p:nvSpPr>
          <p:cNvPr id="4" name="Text 2"/>
          <p:cNvSpPr/>
          <p:nvPr/>
        </p:nvSpPr>
        <p:spPr>
          <a:xfrm>
            <a:off x="274320" y="0"/>
            <a:ext cx="8595360" cy="960120"/>
          </a:xfrm>
          <a:prstGeom prst="rect">
            <a:avLst/>
          </a:prstGeom>
          <a:noFill/>
          <a:ln/>
        </p:spPr>
        <p:txBody>
          <a:bodyPr wrap="square" lIns="0" tIns="0" rIns="0" bIns="0" rtlCol="0" anchor="ctr"/>
          <a:lstStyle/>
          <a:p>
            <a:pPr marL="0" indent="0">
              <a:buNone/>
            </a:pPr>
            <a:r>
              <a:rPr lang="en-US" sz="2200" b="1" kern="0" spc="200" dirty="0">
                <a:solidFill>
                  <a:srgbClr val="FFFFFF"/>
                </a:solidFill>
                <a:latin typeface="Calibri" pitchFamily="34" charset="0"/>
                <a:ea typeface="Calibri" pitchFamily="34" charset="-122"/>
                <a:cs typeface="Calibri" pitchFamily="34" charset="-120"/>
              </a:rPr>
              <a:t>DATA &amp; METHODOLOGY</a:t>
            </a:r>
            <a:endParaRPr lang="en-US" sz="2200" dirty="0"/>
          </a:p>
        </p:txBody>
      </p:sp>
      <p:sp>
        <p:nvSpPr>
          <p:cNvPr id="5" name="Shape 3"/>
          <p:cNvSpPr/>
          <p:nvPr/>
        </p:nvSpPr>
        <p:spPr>
          <a:xfrm>
            <a:off x="228600" y="1097280"/>
            <a:ext cx="4114800" cy="3749040"/>
          </a:xfrm>
          <a:prstGeom prst="rect">
            <a:avLst/>
          </a:prstGeom>
          <a:solidFill>
            <a:srgbClr val="0D1B2A"/>
          </a:solidFill>
          <a:ln w="12700">
            <a:solidFill>
              <a:srgbClr val="142233"/>
            </a:solidFill>
            <a:prstDash val="solid"/>
          </a:ln>
        </p:spPr>
        <p:txBody>
          <a:bodyPr/>
          <a:lstStyle/>
          <a:p>
            <a:endParaRPr lang="en-US"/>
          </a:p>
        </p:txBody>
      </p:sp>
      <p:sp>
        <p:nvSpPr>
          <p:cNvPr id="6" name="Text 4"/>
          <p:cNvSpPr/>
          <p:nvPr/>
        </p:nvSpPr>
        <p:spPr>
          <a:xfrm>
            <a:off x="457200" y="1234440"/>
            <a:ext cx="3657600" cy="329184"/>
          </a:xfrm>
          <a:prstGeom prst="rect">
            <a:avLst/>
          </a:prstGeom>
          <a:noFill/>
          <a:ln/>
        </p:spPr>
        <p:txBody>
          <a:bodyPr wrap="square" lIns="0" tIns="0" rIns="0" bIns="0" rtlCol="0" anchor="ctr"/>
          <a:lstStyle/>
          <a:p>
            <a:pPr marL="0" indent="0">
              <a:buNone/>
            </a:pPr>
            <a:r>
              <a:rPr lang="en-US" sz="1100" b="1" kern="0" spc="100" dirty="0">
                <a:solidFill>
                  <a:srgbClr val="2196C4"/>
                </a:solidFill>
                <a:latin typeface="Calibri" pitchFamily="34" charset="0"/>
                <a:ea typeface="Calibri" pitchFamily="34" charset="-122"/>
                <a:cs typeface="Calibri" pitchFamily="34" charset="-120"/>
              </a:rPr>
              <a:t>DATA SOURCE</a:t>
            </a:r>
            <a:endParaRPr lang="en-US" sz="1100" dirty="0"/>
          </a:p>
        </p:txBody>
      </p:sp>
      <p:sp>
        <p:nvSpPr>
          <p:cNvPr id="7" name="Shape 5"/>
          <p:cNvSpPr/>
          <p:nvPr/>
        </p:nvSpPr>
        <p:spPr>
          <a:xfrm>
            <a:off x="365760" y="1664208"/>
            <a:ext cx="3840480" cy="457200"/>
          </a:xfrm>
          <a:prstGeom prst="rect">
            <a:avLst/>
          </a:prstGeom>
          <a:solidFill>
            <a:srgbClr val="142233"/>
          </a:solidFill>
          <a:ln w="12700">
            <a:solidFill>
              <a:srgbClr val="1A2E47"/>
            </a:solidFill>
            <a:prstDash val="solid"/>
          </a:ln>
        </p:spPr>
        <p:txBody>
          <a:bodyPr/>
          <a:lstStyle/>
          <a:p>
            <a:endParaRPr lang="en-US"/>
          </a:p>
        </p:txBody>
      </p:sp>
      <p:sp>
        <p:nvSpPr>
          <p:cNvPr id="8" name="Text 6"/>
          <p:cNvSpPr/>
          <p:nvPr/>
        </p:nvSpPr>
        <p:spPr>
          <a:xfrm>
            <a:off x="502920" y="1664208"/>
            <a:ext cx="1371600" cy="457200"/>
          </a:xfrm>
          <a:prstGeom prst="rect">
            <a:avLst/>
          </a:prstGeom>
          <a:noFill/>
          <a:ln/>
        </p:spPr>
        <p:txBody>
          <a:bodyPr wrap="square" lIns="0" tIns="0" rIns="0" bIns="0" rtlCol="0" anchor="ctr"/>
          <a:lstStyle/>
          <a:p>
            <a:pPr marL="0" indent="0">
              <a:buNone/>
            </a:pPr>
            <a:r>
              <a:rPr lang="en-US" sz="1000" b="1" dirty="0">
                <a:solidFill>
                  <a:srgbClr val="B0C4DE"/>
                </a:solidFill>
              </a:rPr>
              <a:t>Source</a:t>
            </a:r>
            <a:endParaRPr lang="en-US" sz="1000" dirty="0"/>
          </a:p>
        </p:txBody>
      </p:sp>
      <p:sp>
        <p:nvSpPr>
          <p:cNvPr id="9" name="Text 7"/>
          <p:cNvSpPr/>
          <p:nvPr/>
        </p:nvSpPr>
        <p:spPr>
          <a:xfrm>
            <a:off x="1920240" y="1664208"/>
            <a:ext cx="2194560" cy="457200"/>
          </a:xfrm>
          <a:prstGeom prst="rect">
            <a:avLst/>
          </a:prstGeom>
          <a:noFill/>
          <a:ln/>
        </p:spPr>
        <p:txBody>
          <a:bodyPr wrap="square" lIns="0" tIns="0" rIns="0" bIns="0" rtlCol="0" anchor="ctr"/>
          <a:lstStyle/>
          <a:p>
            <a:pPr marL="0" indent="0">
              <a:buNone/>
            </a:pPr>
            <a:r>
              <a:rPr lang="en-US" sz="1000" dirty="0">
                <a:solidFill>
                  <a:srgbClr val="FFFFFF"/>
                </a:solidFill>
              </a:rPr>
              <a:t>World Bank Data Catalog</a:t>
            </a:r>
            <a:endParaRPr lang="en-US" sz="1000" dirty="0"/>
          </a:p>
        </p:txBody>
      </p:sp>
      <p:sp>
        <p:nvSpPr>
          <p:cNvPr id="10" name="Shape 8"/>
          <p:cNvSpPr/>
          <p:nvPr/>
        </p:nvSpPr>
        <p:spPr>
          <a:xfrm>
            <a:off x="365760" y="2212848"/>
            <a:ext cx="3840480" cy="457200"/>
          </a:xfrm>
          <a:prstGeom prst="rect">
            <a:avLst/>
          </a:prstGeom>
          <a:solidFill>
            <a:srgbClr val="1A2E47"/>
          </a:solidFill>
          <a:ln w="12700">
            <a:solidFill>
              <a:srgbClr val="1A2E47"/>
            </a:solidFill>
            <a:prstDash val="solid"/>
          </a:ln>
        </p:spPr>
        <p:txBody>
          <a:bodyPr/>
          <a:lstStyle/>
          <a:p>
            <a:endParaRPr lang="en-US"/>
          </a:p>
        </p:txBody>
      </p:sp>
      <p:sp>
        <p:nvSpPr>
          <p:cNvPr id="11" name="Text 9"/>
          <p:cNvSpPr/>
          <p:nvPr/>
        </p:nvSpPr>
        <p:spPr>
          <a:xfrm>
            <a:off x="502920" y="2212848"/>
            <a:ext cx="1371600" cy="457200"/>
          </a:xfrm>
          <a:prstGeom prst="rect">
            <a:avLst/>
          </a:prstGeom>
          <a:noFill/>
          <a:ln/>
        </p:spPr>
        <p:txBody>
          <a:bodyPr wrap="square" lIns="0" tIns="0" rIns="0" bIns="0" rtlCol="0" anchor="ctr"/>
          <a:lstStyle/>
          <a:p>
            <a:pPr marL="0" indent="0">
              <a:buNone/>
            </a:pPr>
            <a:r>
              <a:rPr lang="en-US" sz="1000" b="1" dirty="0">
                <a:solidFill>
                  <a:srgbClr val="B0C4DE"/>
                </a:solidFill>
              </a:rPr>
              <a:t>Total Rows</a:t>
            </a:r>
            <a:endParaRPr lang="en-US" sz="1000" dirty="0"/>
          </a:p>
        </p:txBody>
      </p:sp>
      <p:sp>
        <p:nvSpPr>
          <p:cNvPr id="12" name="Text 10"/>
          <p:cNvSpPr/>
          <p:nvPr/>
        </p:nvSpPr>
        <p:spPr>
          <a:xfrm>
            <a:off x="1920240" y="2212848"/>
            <a:ext cx="2194560" cy="457200"/>
          </a:xfrm>
          <a:prstGeom prst="rect">
            <a:avLst/>
          </a:prstGeom>
          <a:noFill/>
          <a:ln/>
        </p:spPr>
        <p:txBody>
          <a:bodyPr wrap="square" lIns="0" tIns="0" rIns="0" bIns="0" rtlCol="0" anchor="ctr"/>
          <a:lstStyle/>
          <a:p>
            <a:pPr marL="0" indent="0">
              <a:buNone/>
            </a:pPr>
            <a:r>
              <a:rPr lang="en-US" sz="1000" dirty="0">
                <a:solidFill>
                  <a:srgbClr val="FFFFFF"/>
                </a:solidFill>
              </a:rPr>
              <a:t>39,589 observations</a:t>
            </a:r>
            <a:endParaRPr lang="en-US" sz="1000" dirty="0"/>
          </a:p>
        </p:txBody>
      </p:sp>
      <p:sp>
        <p:nvSpPr>
          <p:cNvPr id="13" name="Shape 11"/>
          <p:cNvSpPr/>
          <p:nvPr/>
        </p:nvSpPr>
        <p:spPr>
          <a:xfrm>
            <a:off x="365760" y="2761488"/>
            <a:ext cx="3840480" cy="457200"/>
          </a:xfrm>
          <a:prstGeom prst="rect">
            <a:avLst/>
          </a:prstGeom>
          <a:solidFill>
            <a:srgbClr val="142233"/>
          </a:solidFill>
          <a:ln w="12700">
            <a:solidFill>
              <a:srgbClr val="1A2E47"/>
            </a:solidFill>
            <a:prstDash val="solid"/>
          </a:ln>
        </p:spPr>
        <p:txBody>
          <a:bodyPr/>
          <a:lstStyle/>
          <a:p>
            <a:endParaRPr lang="en-US"/>
          </a:p>
        </p:txBody>
      </p:sp>
      <p:sp>
        <p:nvSpPr>
          <p:cNvPr id="14" name="Text 12"/>
          <p:cNvSpPr/>
          <p:nvPr/>
        </p:nvSpPr>
        <p:spPr>
          <a:xfrm>
            <a:off x="502920" y="2761488"/>
            <a:ext cx="1371600" cy="457200"/>
          </a:xfrm>
          <a:prstGeom prst="rect">
            <a:avLst/>
          </a:prstGeom>
          <a:noFill/>
          <a:ln/>
        </p:spPr>
        <p:txBody>
          <a:bodyPr wrap="square" lIns="0" tIns="0" rIns="0" bIns="0" rtlCol="0" anchor="ctr"/>
          <a:lstStyle/>
          <a:p>
            <a:pPr marL="0" indent="0">
              <a:buNone/>
            </a:pPr>
            <a:r>
              <a:rPr lang="en-US" sz="1000" b="1" dirty="0">
                <a:solidFill>
                  <a:srgbClr val="B0C4DE"/>
                </a:solidFill>
              </a:rPr>
              <a:t>Columns</a:t>
            </a:r>
            <a:endParaRPr lang="en-US" sz="1000" dirty="0"/>
          </a:p>
        </p:txBody>
      </p:sp>
      <p:sp>
        <p:nvSpPr>
          <p:cNvPr id="15" name="Text 13"/>
          <p:cNvSpPr/>
          <p:nvPr/>
        </p:nvSpPr>
        <p:spPr>
          <a:xfrm>
            <a:off x="1920240" y="2761488"/>
            <a:ext cx="2194560" cy="457200"/>
          </a:xfrm>
          <a:prstGeom prst="rect">
            <a:avLst/>
          </a:prstGeom>
          <a:noFill/>
          <a:ln/>
        </p:spPr>
        <p:txBody>
          <a:bodyPr wrap="square" lIns="0" tIns="0" rIns="0" bIns="0" rtlCol="0" anchor="ctr"/>
          <a:lstStyle/>
          <a:p>
            <a:pPr marL="0" indent="0">
              <a:buNone/>
            </a:pPr>
            <a:r>
              <a:rPr lang="en-US" sz="1000" dirty="0">
                <a:solidFill>
                  <a:srgbClr val="FFFFFF"/>
                </a:solidFill>
              </a:rPr>
              <a:t>44 variables</a:t>
            </a:r>
            <a:endParaRPr lang="en-US" sz="1000" dirty="0"/>
          </a:p>
        </p:txBody>
      </p:sp>
      <p:sp>
        <p:nvSpPr>
          <p:cNvPr id="16" name="Shape 14"/>
          <p:cNvSpPr/>
          <p:nvPr/>
        </p:nvSpPr>
        <p:spPr>
          <a:xfrm>
            <a:off x="365760" y="3310128"/>
            <a:ext cx="3840480" cy="457200"/>
          </a:xfrm>
          <a:prstGeom prst="rect">
            <a:avLst/>
          </a:prstGeom>
          <a:solidFill>
            <a:srgbClr val="1A2E47"/>
          </a:solidFill>
          <a:ln w="12700">
            <a:solidFill>
              <a:srgbClr val="1A2E47"/>
            </a:solidFill>
            <a:prstDash val="solid"/>
          </a:ln>
        </p:spPr>
        <p:txBody>
          <a:bodyPr/>
          <a:lstStyle/>
          <a:p>
            <a:endParaRPr lang="en-US"/>
          </a:p>
        </p:txBody>
      </p:sp>
      <p:sp>
        <p:nvSpPr>
          <p:cNvPr id="17" name="Text 15"/>
          <p:cNvSpPr/>
          <p:nvPr/>
        </p:nvSpPr>
        <p:spPr>
          <a:xfrm>
            <a:off x="502920" y="3310128"/>
            <a:ext cx="1371600" cy="457200"/>
          </a:xfrm>
          <a:prstGeom prst="rect">
            <a:avLst/>
          </a:prstGeom>
          <a:noFill/>
          <a:ln/>
        </p:spPr>
        <p:txBody>
          <a:bodyPr wrap="square" lIns="0" tIns="0" rIns="0" bIns="0" rtlCol="0" anchor="ctr"/>
          <a:lstStyle/>
          <a:p>
            <a:pPr marL="0" indent="0">
              <a:buNone/>
            </a:pPr>
            <a:r>
              <a:rPr lang="en-US" sz="1000" b="1" dirty="0">
                <a:solidFill>
                  <a:srgbClr val="B0C4DE"/>
                </a:solidFill>
              </a:rPr>
              <a:t>Domain</a:t>
            </a:r>
            <a:endParaRPr lang="en-US" sz="1000" dirty="0"/>
          </a:p>
        </p:txBody>
      </p:sp>
      <p:sp>
        <p:nvSpPr>
          <p:cNvPr id="18" name="Text 16"/>
          <p:cNvSpPr/>
          <p:nvPr/>
        </p:nvSpPr>
        <p:spPr>
          <a:xfrm>
            <a:off x="1920240" y="3310128"/>
            <a:ext cx="2194560" cy="457200"/>
          </a:xfrm>
          <a:prstGeom prst="rect">
            <a:avLst/>
          </a:prstGeom>
          <a:noFill/>
          <a:ln/>
        </p:spPr>
        <p:txBody>
          <a:bodyPr wrap="square" lIns="0" tIns="0" rIns="0" bIns="0" rtlCol="0" anchor="ctr"/>
          <a:lstStyle/>
          <a:p>
            <a:pPr marL="0" indent="0">
              <a:buNone/>
            </a:pPr>
            <a:r>
              <a:rPr lang="en-US" sz="1000" dirty="0">
                <a:solidFill>
                  <a:srgbClr val="FFFFFF"/>
                </a:solidFill>
              </a:rPr>
              <a:t>Finance &amp; Banking</a:t>
            </a:r>
            <a:endParaRPr lang="en-US" sz="1000" dirty="0"/>
          </a:p>
        </p:txBody>
      </p:sp>
      <p:sp>
        <p:nvSpPr>
          <p:cNvPr id="19" name="Shape 17"/>
          <p:cNvSpPr/>
          <p:nvPr/>
        </p:nvSpPr>
        <p:spPr>
          <a:xfrm>
            <a:off x="365760" y="3858768"/>
            <a:ext cx="3840480" cy="457200"/>
          </a:xfrm>
          <a:prstGeom prst="rect">
            <a:avLst/>
          </a:prstGeom>
          <a:solidFill>
            <a:srgbClr val="142233"/>
          </a:solidFill>
          <a:ln w="12700">
            <a:solidFill>
              <a:srgbClr val="1A2E47"/>
            </a:solidFill>
            <a:prstDash val="solid"/>
          </a:ln>
        </p:spPr>
        <p:txBody>
          <a:bodyPr/>
          <a:lstStyle/>
          <a:p>
            <a:endParaRPr lang="en-US"/>
          </a:p>
        </p:txBody>
      </p:sp>
      <p:sp>
        <p:nvSpPr>
          <p:cNvPr id="20" name="Text 18"/>
          <p:cNvSpPr/>
          <p:nvPr/>
        </p:nvSpPr>
        <p:spPr>
          <a:xfrm>
            <a:off x="502920" y="3858768"/>
            <a:ext cx="1371600" cy="457200"/>
          </a:xfrm>
          <a:prstGeom prst="rect">
            <a:avLst/>
          </a:prstGeom>
          <a:noFill/>
          <a:ln/>
        </p:spPr>
        <p:txBody>
          <a:bodyPr wrap="square" lIns="0" tIns="0" rIns="0" bIns="0" rtlCol="0" anchor="ctr"/>
          <a:lstStyle/>
          <a:p>
            <a:pPr marL="0" indent="0">
              <a:buNone/>
            </a:pPr>
            <a:r>
              <a:rPr lang="en-US" sz="1000" b="1" dirty="0">
                <a:solidFill>
                  <a:srgbClr val="B0C4DE"/>
                </a:solidFill>
              </a:rPr>
              <a:t>Period</a:t>
            </a:r>
            <a:endParaRPr lang="en-US" sz="1000" dirty="0"/>
          </a:p>
        </p:txBody>
      </p:sp>
      <p:sp>
        <p:nvSpPr>
          <p:cNvPr id="21" name="Text 19"/>
          <p:cNvSpPr/>
          <p:nvPr/>
        </p:nvSpPr>
        <p:spPr>
          <a:xfrm>
            <a:off x="1920240" y="3858768"/>
            <a:ext cx="2194560" cy="457200"/>
          </a:xfrm>
          <a:prstGeom prst="rect">
            <a:avLst/>
          </a:prstGeom>
          <a:noFill/>
          <a:ln/>
        </p:spPr>
        <p:txBody>
          <a:bodyPr wrap="square" lIns="0" tIns="0" rIns="0" bIns="0" rtlCol="0" anchor="ctr"/>
          <a:lstStyle/>
          <a:p>
            <a:pPr marL="0" indent="0">
              <a:buNone/>
            </a:pPr>
            <a:r>
              <a:rPr lang="en-US" sz="1000" dirty="0">
                <a:solidFill>
                  <a:srgbClr val="FFFFFF"/>
                </a:solidFill>
              </a:rPr>
              <a:t>1980 – 2010</a:t>
            </a:r>
            <a:endParaRPr lang="en-US" sz="1000" dirty="0"/>
          </a:p>
        </p:txBody>
      </p:sp>
      <p:sp>
        <p:nvSpPr>
          <p:cNvPr id="22" name="Shape 20"/>
          <p:cNvSpPr/>
          <p:nvPr/>
        </p:nvSpPr>
        <p:spPr>
          <a:xfrm>
            <a:off x="4572000" y="1097280"/>
            <a:ext cx="4343400" cy="3749040"/>
          </a:xfrm>
          <a:prstGeom prst="rect">
            <a:avLst/>
          </a:prstGeom>
          <a:solidFill>
            <a:srgbClr val="0D1B2A"/>
          </a:solidFill>
          <a:ln w="12700">
            <a:solidFill>
              <a:srgbClr val="142233"/>
            </a:solidFill>
            <a:prstDash val="solid"/>
          </a:ln>
        </p:spPr>
        <p:txBody>
          <a:bodyPr/>
          <a:lstStyle/>
          <a:p>
            <a:endParaRPr lang="en-US"/>
          </a:p>
        </p:txBody>
      </p:sp>
      <p:sp>
        <p:nvSpPr>
          <p:cNvPr id="23" name="Text 21"/>
          <p:cNvSpPr/>
          <p:nvPr/>
        </p:nvSpPr>
        <p:spPr>
          <a:xfrm>
            <a:off x="4800600" y="1234440"/>
            <a:ext cx="3840480" cy="329184"/>
          </a:xfrm>
          <a:prstGeom prst="rect">
            <a:avLst/>
          </a:prstGeom>
          <a:noFill/>
          <a:ln/>
        </p:spPr>
        <p:txBody>
          <a:bodyPr wrap="square" lIns="0" tIns="0" rIns="0" bIns="0" rtlCol="0" anchor="ctr"/>
          <a:lstStyle/>
          <a:p>
            <a:pPr marL="0" indent="0">
              <a:buNone/>
            </a:pPr>
            <a:r>
              <a:rPr lang="en-US" sz="1100" b="1" kern="0" spc="100" dirty="0">
                <a:solidFill>
                  <a:srgbClr val="00C9A7"/>
                </a:solidFill>
                <a:latin typeface="Calibri" pitchFamily="34" charset="0"/>
                <a:ea typeface="Calibri" pitchFamily="34" charset="-122"/>
                <a:cs typeface="Calibri" pitchFamily="34" charset="-120"/>
              </a:rPr>
              <a:t>BI LIFECYCLE</a:t>
            </a:r>
            <a:endParaRPr lang="en-US" sz="1100" dirty="0"/>
          </a:p>
        </p:txBody>
      </p:sp>
      <p:sp>
        <p:nvSpPr>
          <p:cNvPr id="24" name="Shape 22"/>
          <p:cNvSpPr/>
          <p:nvPr/>
        </p:nvSpPr>
        <p:spPr>
          <a:xfrm>
            <a:off x="4709160" y="1664208"/>
            <a:ext cx="411480" cy="530352"/>
          </a:xfrm>
          <a:prstGeom prst="rect">
            <a:avLst/>
          </a:prstGeom>
          <a:solidFill>
            <a:srgbClr val="00C9A7"/>
          </a:solidFill>
          <a:ln w="12700">
            <a:solidFill>
              <a:srgbClr val="00C9A7"/>
            </a:solidFill>
            <a:prstDash val="solid"/>
          </a:ln>
        </p:spPr>
        <p:txBody>
          <a:bodyPr/>
          <a:lstStyle/>
          <a:p>
            <a:endParaRPr lang="en-US"/>
          </a:p>
        </p:txBody>
      </p:sp>
      <p:sp>
        <p:nvSpPr>
          <p:cNvPr id="25" name="Text 23"/>
          <p:cNvSpPr/>
          <p:nvPr/>
        </p:nvSpPr>
        <p:spPr>
          <a:xfrm>
            <a:off x="4709160" y="1664208"/>
            <a:ext cx="411480" cy="530352"/>
          </a:xfrm>
          <a:prstGeom prst="rect">
            <a:avLst/>
          </a:prstGeom>
          <a:noFill/>
          <a:ln/>
        </p:spPr>
        <p:txBody>
          <a:bodyPr wrap="square" lIns="0" tIns="0" rIns="0" bIns="0" rtlCol="0" anchor="ctr"/>
          <a:lstStyle/>
          <a:p>
            <a:pPr marL="0" indent="0" algn="ctr">
              <a:buNone/>
            </a:pPr>
            <a:r>
              <a:rPr lang="en-US" sz="1100" b="1" dirty="0">
                <a:solidFill>
                  <a:srgbClr val="0D1B2A"/>
                </a:solidFill>
                <a:latin typeface="Calibri" pitchFamily="34" charset="0"/>
                <a:ea typeface="Calibri" pitchFamily="34" charset="-122"/>
                <a:cs typeface="Calibri" pitchFamily="34" charset="-120"/>
              </a:rPr>
              <a:t>01</a:t>
            </a:r>
            <a:endParaRPr lang="en-US" sz="1100" dirty="0"/>
          </a:p>
        </p:txBody>
      </p:sp>
      <p:sp>
        <p:nvSpPr>
          <p:cNvPr id="26" name="Text 24"/>
          <p:cNvSpPr/>
          <p:nvPr/>
        </p:nvSpPr>
        <p:spPr>
          <a:xfrm>
            <a:off x="5230368" y="1664208"/>
            <a:ext cx="3566160" cy="256032"/>
          </a:xfrm>
          <a:prstGeom prst="rect">
            <a:avLst/>
          </a:prstGeom>
          <a:noFill/>
          <a:ln/>
        </p:spPr>
        <p:txBody>
          <a:bodyPr wrap="square" lIns="0" tIns="0" rIns="0" bIns="0" rtlCol="0" anchor="b"/>
          <a:lstStyle/>
          <a:p>
            <a:pPr marL="0" indent="0">
              <a:buNone/>
            </a:pPr>
            <a:r>
              <a:rPr lang="en-US" sz="1050" b="1" dirty="0">
                <a:solidFill>
                  <a:srgbClr val="FFFFFF"/>
                </a:solidFill>
              </a:rPr>
              <a:t>Power Query (ETL)</a:t>
            </a:r>
            <a:endParaRPr lang="en-US" sz="1050" dirty="0"/>
          </a:p>
        </p:txBody>
      </p:sp>
      <p:sp>
        <p:nvSpPr>
          <p:cNvPr id="27" name="Text 25"/>
          <p:cNvSpPr/>
          <p:nvPr/>
        </p:nvSpPr>
        <p:spPr>
          <a:xfrm>
            <a:off x="5230368" y="1883664"/>
            <a:ext cx="3566160" cy="310896"/>
          </a:xfrm>
          <a:prstGeom prst="rect">
            <a:avLst/>
          </a:prstGeom>
          <a:noFill/>
          <a:ln/>
        </p:spPr>
        <p:txBody>
          <a:bodyPr wrap="square" lIns="0" tIns="0" rIns="0" bIns="0" rtlCol="0" anchor="t"/>
          <a:lstStyle/>
          <a:p>
            <a:pPr marL="0" indent="0">
              <a:buNone/>
            </a:pPr>
            <a:r>
              <a:rPr lang="en-US" sz="1100" dirty="0">
                <a:solidFill>
                  <a:srgbClr val="B0C4DE"/>
                </a:solidFill>
              </a:rPr>
              <a:t>10+ transformations: null handling, ISO standardization, crisis intensity columns</a:t>
            </a:r>
            <a:endParaRPr lang="en-US" sz="1100" dirty="0"/>
          </a:p>
        </p:txBody>
      </p:sp>
      <p:sp>
        <p:nvSpPr>
          <p:cNvPr id="28" name="Shape 26"/>
          <p:cNvSpPr/>
          <p:nvPr/>
        </p:nvSpPr>
        <p:spPr>
          <a:xfrm>
            <a:off x="4709160" y="2350008"/>
            <a:ext cx="411480" cy="530352"/>
          </a:xfrm>
          <a:prstGeom prst="rect">
            <a:avLst/>
          </a:prstGeom>
          <a:solidFill>
            <a:srgbClr val="00C9A7"/>
          </a:solidFill>
          <a:ln w="12700">
            <a:solidFill>
              <a:srgbClr val="00C9A7"/>
            </a:solidFill>
            <a:prstDash val="solid"/>
          </a:ln>
        </p:spPr>
        <p:txBody>
          <a:bodyPr/>
          <a:lstStyle/>
          <a:p>
            <a:endParaRPr lang="en-US"/>
          </a:p>
        </p:txBody>
      </p:sp>
      <p:sp>
        <p:nvSpPr>
          <p:cNvPr id="29" name="Text 27"/>
          <p:cNvSpPr/>
          <p:nvPr/>
        </p:nvSpPr>
        <p:spPr>
          <a:xfrm>
            <a:off x="4709160" y="2350008"/>
            <a:ext cx="411480" cy="530352"/>
          </a:xfrm>
          <a:prstGeom prst="rect">
            <a:avLst/>
          </a:prstGeom>
          <a:noFill/>
          <a:ln/>
        </p:spPr>
        <p:txBody>
          <a:bodyPr wrap="square" lIns="0" tIns="0" rIns="0" bIns="0" rtlCol="0" anchor="ctr"/>
          <a:lstStyle/>
          <a:p>
            <a:pPr marL="0" indent="0" algn="ctr">
              <a:buNone/>
            </a:pPr>
            <a:r>
              <a:rPr lang="en-US" sz="1100" b="1" dirty="0">
                <a:solidFill>
                  <a:srgbClr val="0D1B2A"/>
                </a:solidFill>
                <a:latin typeface="Calibri" pitchFamily="34" charset="0"/>
                <a:ea typeface="Calibri" pitchFamily="34" charset="-122"/>
                <a:cs typeface="Calibri" pitchFamily="34" charset="-120"/>
              </a:rPr>
              <a:t>02</a:t>
            </a:r>
            <a:endParaRPr lang="en-US" sz="1100" dirty="0"/>
          </a:p>
        </p:txBody>
      </p:sp>
      <p:sp>
        <p:nvSpPr>
          <p:cNvPr id="30" name="Text 28"/>
          <p:cNvSpPr/>
          <p:nvPr/>
        </p:nvSpPr>
        <p:spPr>
          <a:xfrm>
            <a:off x="5230368" y="2350008"/>
            <a:ext cx="3566160" cy="256032"/>
          </a:xfrm>
          <a:prstGeom prst="rect">
            <a:avLst/>
          </a:prstGeom>
          <a:noFill/>
          <a:ln/>
        </p:spPr>
        <p:txBody>
          <a:bodyPr wrap="square" lIns="0" tIns="0" rIns="0" bIns="0" rtlCol="0" anchor="b"/>
          <a:lstStyle/>
          <a:p>
            <a:pPr marL="0" indent="0">
              <a:buNone/>
            </a:pPr>
            <a:r>
              <a:rPr lang="en-US" sz="1050" b="1" dirty="0">
                <a:solidFill>
                  <a:srgbClr val="FFFFFF"/>
                </a:solidFill>
              </a:rPr>
              <a:t>Star Schema Modeling</a:t>
            </a:r>
            <a:endParaRPr lang="en-US" sz="1050" dirty="0"/>
          </a:p>
        </p:txBody>
      </p:sp>
      <p:sp>
        <p:nvSpPr>
          <p:cNvPr id="31" name="Text 29"/>
          <p:cNvSpPr/>
          <p:nvPr/>
        </p:nvSpPr>
        <p:spPr>
          <a:xfrm>
            <a:off x="5230368" y="2569464"/>
            <a:ext cx="3566160" cy="310896"/>
          </a:xfrm>
          <a:prstGeom prst="rect">
            <a:avLst/>
          </a:prstGeom>
          <a:noFill/>
          <a:ln/>
        </p:spPr>
        <p:txBody>
          <a:bodyPr wrap="square" lIns="0" tIns="0" rIns="0" bIns="0" rtlCol="0" anchor="t"/>
          <a:lstStyle/>
          <a:p>
            <a:pPr marL="0" indent="0">
              <a:buNone/>
            </a:pPr>
            <a:r>
              <a:rPr lang="en-US" sz="1100" dirty="0">
                <a:solidFill>
                  <a:srgbClr val="B0C4DE"/>
                </a:solidFill>
              </a:rPr>
              <a:t>Fact_TradePerformance + Dim_Date, Dim_Country, Dim_CrisisStatus</a:t>
            </a:r>
            <a:endParaRPr lang="en-US" sz="1100" dirty="0"/>
          </a:p>
        </p:txBody>
      </p:sp>
      <p:sp>
        <p:nvSpPr>
          <p:cNvPr id="32" name="Shape 30"/>
          <p:cNvSpPr/>
          <p:nvPr/>
        </p:nvSpPr>
        <p:spPr>
          <a:xfrm>
            <a:off x="4709160" y="3035808"/>
            <a:ext cx="411480" cy="530352"/>
          </a:xfrm>
          <a:prstGeom prst="rect">
            <a:avLst/>
          </a:prstGeom>
          <a:solidFill>
            <a:srgbClr val="00C9A7"/>
          </a:solidFill>
          <a:ln w="12700">
            <a:solidFill>
              <a:srgbClr val="00C9A7"/>
            </a:solidFill>
            <a:prstDash val="solid"/>
          </a:ln>
        </p:spPr>
        <p:txBody>
          <a:bodyPr/>
          <a:lstStyle/>
          <a:p>
            <a:endParaRPr lang="en-US"/>
          </a:p>
        </p:txBody>
      </p:sp>
      <p:sp>
        <p:nvSpPr>
          <p:cNvPr id="33" name="Text 31"/>
          <p:cNvSpPr/>
          <p:nvPr/>
        </p:nvSpPr>
        <p:spPr>
          <a:xfrm>
            <a:off x="4709160" y="3035808"/>
            <a:ext cx="411480" cy="530352"/>
          </a:xfrm>
          <a:prstGeom prst="rect">
            <a:avLst/>
          </a:prstGeom>
          <a:noFill/>
          <a:ln/>
        </p:spPr>
        <p:txBody>
          <a:bodyPr wrap="square" lIns="0" tIns="0" rIns="0" bIns="0" rtlCol="0" anchor="ctr"/>
          <a:lstStyle/>
          <a:p>
            <a:pPr marL="0" indent="0" algn="ctr">
              <a:buNone/>
            </a:pPr>
            <a:r>
              <a:rPr lang="en-US" sz="1100" b="1" dirty="0">
                <a:solidFill>
                  <a:srgbClr val="0D1B2A"/>
                </a:solidFill>
                <a:latin typeface="Calibri" pitchFamily="34" charset="0"/>
                <a:ea typeface="Calibri" pitchFamily="34" charset="-122"/>
                <a:cs typeface="Calibri" pitchFamily="34" charset="-120"/>
              </a:rPr>
              <a:t>03</a:t>
            </a:r>
            <a:endParaRPr lang="en-US" sz="1100" dirty="0"/>
          </a:p>
        </p:txBody>
      </p:sp>
      <p:sp>
        <p:nvSpPr>
          <p:cNvPr id="34" name="Text 32"/>
          <p:cNvSpPr/>
          <p:nvPr/>
        </p:nvSpPr>
        <p:spPr>
          <a:xfrm>
            <a:off x="5230368" y="3035808"/>
            <a:ext cx="3566160" cy="256032"/>
          </a:xfrm>
          <a:prstGeom prst="rect">
            <a:avLst/>
          </a:prstGeom>
          <a:noFill/>
          <a:ln/>
        </p:spPr>
        <p:txBody>
          <a:bodyPr wrap="square" lIns="0" tIns="0" rIns="0" bIns="0" rtlCol="0" anchor="b"/>
          <a:lstStyle/>
          <a:p>
            <a:pPr marL="0" indent="0">
              <a:buNone/>
            </a:pPr>
            <a:r>
              <a:rPr lang="en-US" sz="1050" b="1" dirty="0">
                <a:solidFill>
                  <a:srgbClr val="FFFFFF"/>
                </a:solidFill>
              </a:rPr>
              <a:t>DAX Development</a:t>
            </a:r>
            <a:endParaRPr lang="en-US" sz="1050" dirty="0"/>
          </a:p>
        </p:txBody>
      </p:sp>
      <p:sp>
        <p:nvSpPr>
          <p:cNvPr id="35" name="Text 33"/>
          <p:cNvSpPr/>
          <p:nvPr/>
        </p:nvSpPr>
        <p:spPr>
          <a:xfrm>
            <a:off x="5230368" y="3255264"/>
            <a:ext cx="3566160" cy="310896"/>
          </a:xfrm>
          <a:prstGeom prst="rect">
            <a:avLst/>
          </a:prstGeom>
          <a:noFill/>
          <a:ln/>
        </p:spPr>
        <p:txBody>
          <a:bodyPr wrap="square" lIns="0" tIns="0" rIns="0" bIns="0" rtlCol="0" anchor="t"/>
          <a:lstStyle/>
          <a:p>
            <a:pPr marL="0" indent="0">
              <a:buNone/>
            </a:pPr>
            <a:r>
              <a:rPr lang="en-US" sz="1100" dirty="0">
                <a:solidFill>
                  <a:srgbClr val="B0C4DE"/>
                </a:solidFill>
              </a:rPr>
              <a:t>15+ measures: YoY, MTD, Recovery Velocity Index, Risk Index</a:t>
            </a:r>
            <a:endParaRPr lang="en-US" sz="1100" dirty="0"/>
          </a:p>
        </p:txBody>
      </p:sp>
      <p:sp>
        <p:nvSpPr>
          <p:cNvPr id="36" name="Shape 34"/>
          <p:cNvSpPr/>
          <p:nvPr/>
        </p:nvSpPr>
        <p:spPr>
          <a:xfrm>
            <a:off x="4709160" y="3721608"/>
            <a:ext cx="411480" cy="530352"/>
          </a:xfrm>
          <a:prstGeom prst="rect">
            <a:avLst/>
          </a:prstGeom>
          <a:solidFill>
            <a:srgbClr val="00C9A7"/>
          </a:solidFill>
          <a:ln w="12700">
            <a:solidFill>
              <a:srgbClr val="00C9A7"/>
            </a:solidFill>
            <a:prstDash val="solid"/>
          </a:ln>
        </p:spPr>
        <p:txBody>
          <a:bodyPr/>
          <a:lstStyle/>
          <a:p>
            <a:endParaRPr lang="en-US"/>
          </a:p>
        </p:txBody>
      </p:sp>
      <p:sp>
        <p:nvSpPr>
          <p:cNvPr id="37" name="Text 35"/>
          <p:cNvSpPr/>
          <p:nvPr/>
        </p:nvSpPr>
        <p:spPr>
          <a:xfrm>
            <a:off x="4709160" y="3721608"/>
            <a:ext cx="411480" cy="530352"/>
          </a:xfrm>
          <a:prstGeom prst="rect">
            <a:avLst/>
          </a:prstGeom>
          <a:noFill/>
          <a:ln/>
        </p:spPr>
        <p:txBody>
          <a:bodyPr wrap="square" lIns="0" tIns="0" rIns="0" bIns="0" rtlCol="0" anchor="ctr"/>
          <a:lstStyle/>
          <a:p>
            <a:pPr marL="0" indent="0" algn="ctr">
              <a:buNone/>
            </a:pPr>
            <a:r>
              <a:rPr lang="en-US" sz="1100" b="1" dirty="0">
                <a:solidFill>
                  <a:srgbClr val="0D1B2A"/>
                </a:solidFill>
                <a:latin typeface="Calibri" pitchFamily="34" charset="0"/>
                <a:ea typeface="Calibri" pitchFamily="34" charset="-122"/>
                <a:cs typeface="Calibri" pitchFamily="34" charset="-120"/>
              </a:rPr>
              <a:t>04</a:t>
            </a:r>
            <a:endParaRPr lang="en-US" sz="1100" dirty="0"/>
          </a:p>
        </p:txBody>
      </p:sp>
      <p:sp>
        <p:nvSpPr>
          <p:cNvPr id="38" name="Text 36"/>
          <p:cNvSpPr/>
          <p:nvPr/>
        </p:nvSpPr>
        <p:spPr>
          <a:xfrm>
            <a:off x="5230368" y="3721608"/>
            <a:ext cx="3566160" cy="256032"/>
          </a:xfrm>
          <a:prstGeom prst="rect">
            <a:avLst/>
          </a:prstGeom>
          <a:noFill/>
          <a:ln/>
        </p:spPr>
        <p:txBody>
          <a:bodyPr wrap="square" lIns="0" tIns="0" rIns="0" bIns="0" rtlCol="0" anchor="b"/>
          <a:lstStyle/>
          <a:p>
            <a:pPr marL="0" indent="0">
              <a:buNone/>
            </a:pPr>
            <a:r>
              <a:rPr lang="en-US" sz="1050" b="1" dirty="0">
                <a:solidFill>
                  <a:srgbClr val="FFFFFF"/>
                </a:solidFill>
              </a:rPr>
              <a:t>Dashboard Visualization</a:t>
            </a:r>
            <a:endParaRPr lang="en-US" sz="1050" dirty="0"/>
          </a:p>
        </p:txBody>
      </p:sp>
      <p:sp>
        <p:nvSpPr>
          <p:cNvPr id="39" name="Text 37"/>
          <p:cNvSpPr/>
          <p:nvPr/>
        </p:nvSpPr>
        <p:spPr>
          <a:xfrm>
            <a:off x="5230368" y="3941064"/>
            <a:ext cx="3566160" cy="310896"/>
          </a:xfrm>
          <a:prstGeom prst="rect">
            <a:avLst/>
          </a:prstGeom>
          <a:noFill/>
          <a:ln/>
        </p:spPr>
        <p:txBody>
          <a:bodyPr wrap="square" lIns="0" tIns="0" rIns="0" bIns="0" rtlCol="0" anchor="t"/>
          <a:lstStyle/>
          <a:p>
            <a:pPr marL="0" indent="0">
              <a:buNone/>
            </a:pPr>
            <a:r>
              <a:rPr lang="en-US" sz="1100" dirty="0">
                <a:solidFill>
                  <a:srgbClr val="B0C4DE"/>
                </a:solidFill>
              </a:rPr>
              <a:t>4-page executive dashboard with What-If parameters &amp; Decomposition Trees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C9A7"/>
          </a:solidFill>
          <a:ln w="12700">
            <a:solidFill>
              <a:srgbClr val="00C9A7"/>
            </a:solidFill>
            <a:prstDash val="solid"/>
          </a:ln>
        </p:spPr>
        <p:txBody>
          <a:bodyPr/>
          <a:lstStyle/>
          <a:p>
            <a:endParaRPr lang="en-US"/>
          </a:p>
        </p:txBody>
      </p:sp>
      <p:sp>
        <p:nvSpPr>
          <p:cNvPr id="3" name="Text 1"/>
          <p:cNvSpPr/>
          <p:nvPr/>
        </p:nvSpPr>
        <p:spPr>
          <a:xfrm>
            <a:off x="274320" y="201168"/>
            <a:ext cx="8229600" cy="502920"/>
          </a:xfrm>
          <a:prstGeom prst="rect">
            <a:avLst/>
          </a:prstGeom>
          <a:noFill/>
          <a:ln/>
        </p:spPr>
        <p:txBody>
          <a:bodyPr wrap="square" lIns="0" tIns="0" rIns="0" bIns="0" rtlCol="0" anchor="ctr"/>
          <a:lstStyle/>
          <a:p>
            <a:pPr marL="0" indent="0">
              <a:buNone/>
            </a:pPr>
            <a:r>
              <a:rPr lang="en-US" sz="2200" b="1" kern="0" spc="200" dirty="0">
                <a:solidFill>
                  <a:srgbClr val="FFFFFF"/>
                </a:solidFill>
                <a:latin typeface="Calibri" pitchFamily="34" charset="0"/>
                <a:ea typeface="Calibri" pitchFamily="34" charset="-122"/>
                <a:cs typeface="Calibri" pitchFamily="34" charset="-120"/>
              </a:rPr>
              <a:t>KEY FINDINGS</a:t>
            </a:r>
            <a:endParaRPr lang="en-US" sz="2200" dirty="0"/>
          </a:p>
        </p:txBody>
      </p:sp>
      <p:sp>
        <p:nvSpPr>
          <p:cNvPr id="4" name="Text 2"/>
          <p:cNvSpPr/>
          <p:nvPr/>
        </p:nvSpPr>
        <p:spPr>
          <a:xfrm>
            <a:off x="274320" y="731520"/>
            <a:ext cx="8229600" cy="274320"/>
          </a:xfrm>
          <a:prstGeom prst="rect">
            <a:avLst/>
          </a:prstGeom>
          <a:noFill/>
          <a:ln/>
        </p:spPr>
        <p:txBody>
          <a:bodyPr wrap="square" lIns="0" tIns="0" rIns="0" bIns="0" rtlCol="0" anchor="ctr"/>
          <a:lstStyle/>
          <a:p>
            <a:pPr marL="0" indent="0">
              <a:buNone/>
            </a:pPr>
            <a:r>
              <a:rPr lang="en-US" sz="1200" dirty="0">
                <a:solidFill>
                  <a:srgbClr val="B0C4DE"/>
                </a:solidFill>
                <a:latin typeface="Calibri" pitchFamily="34" charset="0"/>
                <a:ea typeface="Calibri" pitchFamily="34" charset="-122"/>
                <a:cs typeface="Calibri" pitchFamily="34" charset="-120"/>
              </a:rPr>
              <a:t>Business Intelligence Dashboard Results</a:t>
            </a:r>
            <a:endParaRPr lang="en-US" sz="1200" dirty="0"/>
          </a:p>
        </p:txBody>
      </p:sp>
      <p:sp>
        <p:nvSpPr>
          <p:cNvPr id="5" name="Shape 3"/>
          <p:cNvSpPr/>
          <p:nvPr/>
        </p:nvSpPr>
        <p:spPr>
          <a:xfrm>
            <a:off x="182880" y="1143000"/>
            <a:ext cx="4343400" cy="1143000"/>
          </a:xfrm>
          <a:prstGeom prst="rect">
            <a:avLst/>
          </a:prstGeom>
          <a:solidFill>
            <a:srgbClr val="142233"/>
          </a:solidFill>
          <a:ln w="12700">
            <a:solidFill>
              <a:srgbClr val="1A2E47"/>
            </a:solidFill>
            <a:prstDash val="solid"/>
          </a:ln>
        </p:spPr>
        <p:txBody>
          <a:bodyPr/>
          <a:lstStyle/>
          <a:p>
            <a:endParaRPr lang="en-US"/>
          </a:p>
        </p:txBody>
      </p:sp>
      <p:sp>
        <p:nvSpPr>
          <p:cNvPr id="6" name="Shape 4"/>
          <p:cNvSpPr/>
          <p:nvPr/>
        </p:nvSpPr>
        <p:spPr>
          <a:xfrm>
            <a:off x="182880" y="1143000"/>
            <a:ext cx="54864" cy="1143000"/>
          </a:xfrm>
          <a:prstGeom prst="rect">
            <a:avLst/>
          </a:prstGeom>
          <a:solidFill>
            <a:srgbClr val="00C9A7"/>
          </a:solidFill>
          <a:ln w="12700">
            <a:solidFill>
              <a:srgbClr val="00C9A7"/>
            </a:solidFill>
            <a:prstDash val="solid"/>
          </a:ln>
        </p:spPr>
        <p:txBody>
          <a:bodyPr/>
          <a:lstStyle/>
          <a:p>
            <a:endParaRPr lang="en-US"/>
          </a:p>
        </p:txBody>
      </p:sp>
      <p:sp>
        <p:nvSpPr>
          <p:cNvPr id="7" name="Text 5"/>
          <p:cNvSpPr/>
          <p:nvPr/>
        </p:nvSpPr>
        <p:spPr>
          <a:xfrm>
            <a:off x="320040" y="1234440"/>
            <a:ext cx="2286000" cy="256032"/>
          </a:xfrm>
          <a:prstGeom prst="rect">
            <a:avLst/>
          </a:prstGeom>
          <a:noFill/>
          <a:ln/>
        </p:spPr>
        <p:txBody>
          <a:bodyPr wrap="square" lIns="0" tIns="0" rIns="0" bIns="0" rtlCol="0" anchor="ctr"/>
          <a:lstStyle/>
          <a:p>
            <a:pPr marL="0" indent="0">
              <a:buNone/>
            </a:pPr>
            <a:r>
              <a:rPr lang="en-US" sz="1200" b="1" dirty="0">
                <a:solidFill>
                  <a:srgbClr val="00C9A7"/>
                </a:solidFill>
                <a:latin typeface="Calibri" pitchFamily="34" charset="0"/>
                <a:ea typeface="Calibri" pitchFamily="34" charset="-122"/>
                <a:cs typeface="Calibri" pitchFamily="34" charset="-120"/>
              </a:rPr>
              <a:t>Q1 · Crisis Impact</a:t>
            </a:r>
            <a:endParaRPr lang="en-US" sz="1200" dirty="0"/>
          </a:p>
        </p:txBody>
      </p:sp>
      <p:sp>
        <p:nvSpPr>
          <p:cNvPr id="8" name="Text 6"/>
          <p:cNvSpPr/>
          <p:nvPr/>
        </p:nvSpPr>
        <p:spPr>
          <a:xfrm>
            <a:off x="3108960" y="1188720"/>
            <a:ext cx="1280160" cy="384048"/>
          </a:xfrm>
          <a:prstGeom prst="rect">
            <a:avLst/>
          </a:prstGeom>
          <a:noFill/>
          <a:ln/>
        </p:spPr>
        <p:txBody>
          <a:bodyPr wrap="square" lIns="0" tIns="0" rIns="0" bIns="0" rtlCol="0" anchor="ctr"/>
          <a:lstStyle/>
          <a:p>
            <a:pPr marL="0" indent="0" algn="r">
              <a:buNone/>
            </a:pPr>
            <a:r>
              <a:rPr lang="en-US" sz="2100" b="1" dirty="0">
                <a:solidFill>
                  <a:srgbClr val="00C9A7"/>
                </a:solidFill>
                <a:latin typeface="Calibri" pitchFamily="34" charset="0"/>
                <a:ea typeface="Calibri" pitchFamily="34" charset="-122"/>
                <a:cs typeface="Calibri" pitchFamily="34" charset="-120"/>
              </a:rPr>
              <a:t>-ve Growth</a:t>
            </a:r>
            <a:endParaRPr lang="en-US" sz="2100" dirty="0"/>
          </a:p>
        </p:txBody>
      </p:sp>
      <p:sp>
        <p:nvSpPr>
          <p:cNvPr id="9" name="Text 7"/>
          <p:cNvSpPr/>
          <p:nvPr/>
        </p:nvSpPr>
        <p:spPr>
          <a:xfrm>
            <a:off x="320040" y="1527048"/>
            <a:ext cx="4069080" cy="685800"/>
          </a:xfrm>
          <a:prstGeom prst="rect">
            <a:avLst/>
          </a:prstGeom>
          <a:noFill/>
          <a:ln/>
        </p:spPr>
        <p:txBody>
          <a:bodyPr wrap="square" lIns="0" tIns="0" rIns="0" bIns="0" rtlCol="0" anchor="t"/>
          <a:lstStyle/>
          <a:p>
            <a:pPr marL="0" indent="0">
              <a:buNone/>
            </a:pPr>
            <a:r>
              <a:rPr lang="en-US" sz="1200" dirty="0">
                <a:solidFill>
                  <a:srgbClr val="B0C4DE"/>
                </a:solidFill>
                <a:latin typeface="Calibri" pitchFamily="34" charset="0"/>
                <a:ea typeface="Calibri" pitchFamily="34" charset="-122"/>
                <a:cs typeface="Calibri" pitchFamily="34" charset="-120"/>
              </a:rPr>
              <a:t>Export growth repeatedly dips into negative territory during banking crisis windows. Colombia (COL) shows steady credit of 0.29 but growth slowed to 0.11 during recession.</a:t>
            </a:r>
            <a:endParaRPr lang="en-US" sz="1200" dirty="0"/>
          </a:p>
        </p:txBody>
      </p:sp>
      <p:sp>
        <p:nvSpPr>
          <p:cNvPr id="10" name="Shape 8"/>
          <p:cNvSpPr/>
          <p:nvPr/>
        </p:nvSpPr>
        <p:spPr>
          <a:xfrm>
            <a:off x="182880" y="2404872"/>
            <a:ext cx="4343400" cy="1143000"/>
          </a:xfrm>
          <a:prstGeom prst="rect">
            <a:avLst/>
          </a:prstGeom>
          <a:solidFill>
            <a:srgbClr val="142233"/>
          </a:solidFill>
          <a:ln w="12700">
            <a:solidFill>
              <a:srgbClr val="1A2E47"/>
            </a:solidFill>
            <a:prstDash val="solid"/>
          </a:ln>
        </p:spPr>
        <p:txBody>
          <a:bodyPr/>
          <a:lstStyle/>
          <a:p>
            <a:endParaRPr lang="en-US"/>
          </a:p>
        </p:txBody>
      </p:sp>
      <p:sp>
        <p:nvSpPr>
          <p:cNvPr id="11" name="Shape 9"/>
          <p:cNvSpPr/>
          <p:nvPr/>
        </p:nvSpPr>
        <p:spPr>
          <a:xfrm>
            <a:off x="182880" y="2404872"/>
            <a:ext cx="54864" cy="1143000"/>
          </a:xfrm>
          <a:prstGeom prst="rect">
            <a:avLst/>
          </a:prstGeom>
          <a:solidFill>
            <a:srgbClr val="2196C4"/>
          </a:solidFill>
          <a:ln w="12700">
            <a:solidFill>
              <a:srgbClr val="2196C4"/>
            </a:solidFill>
            <a:prstDash val="solid"/>
          </a:ln>
        </p:spPr>
        <p:txBody>
          <a:bodyPr/>
          <a:lstStyle/>
          <a:p>
            <a:endParaRPr lang="en-US"/>
          </a:p>
        </p:txBody>
      </p:sp>
      <p:sp>
        <p:nvSpPr>
          <p:cNvPr id="12" name="Text 10"/>
          <p:cNvSpPr/>
          <p:nvPr/>
        </p:nvSpPr>
        <p:spPr>
          <a:xfrm>
            <a:off x="320040" y="2496312"/>
            <a:ext cx="2286000" cy="256032"/>
          </a:xfrm>
          <a:prstGeom prst="rect">
            <a:avLst/>
          </a:prstGeom>
          <a:noFill/>
          <a:ln/>
        </p:spPr>
        <p:txBody>
          <a:bodyPr wrap="square" lIns="0" tIns="0" rIns="0" bIns="0" rtlCol="0" anchor="ctr"/>
          <a:lstStyle/>
          <a:p>
            <a:pPr marL="0" indent="0">
              <a:buNone/>
            </a:pPr>
            <a:r>
              <a:rPr lang="en-US" sz="1200" b="1" dirty="0">
                <a:solidFill>
                  <a:srgbClr val="2196C4"/>
                </a:solidFill>
                <a:latin typeface="Calibri" pitchFamily="34" charset="0"/>
                <a:ea typeface="Calibri" pitchFamily="34" charset="-122"/>
                <a:cs typeface="Calibri" pitchFamily="34" charset="-120"/>
              </a:rPr>
              <a:t>Q2 · Sectoral Vulnerability</a:t>
            </a:r>
            <a:endParaRPr lang="en-US" sz="1200" dirty="0"/>
          </a:p>
        </p:txBody>
      </p:sp>
      <p:sp>
        <p:nvSpPr>
          <p:cNvPr id="13" name="Text 11"/>
          <p:cNvSpPr/>
          <p:nvPr/>
        </p:nvSpPr>
        <p:spPr>
          <a:xfrm>
            <a:off x="3108960" y="2450592"/>
            <a:ext cx="1280160" cy="384048"/>
          </a:xfrm>
          <a:prstGeom prst="rect">
            <a:avLst/>
          </a:prstGeom>
          <a:noFill/>
          <a:ln/>
        </p:spPr>
        <p:txBody>
          <a:bodyPr wrap="square" lIns="0" tIns="0" rIns="0" bIns="0" rtlCol="0" anchor="ctr"/>
          <a:lstStyle/>
          <a:p>
            <a:pPr marL="0" indent="0" algn="r">
              <a:buNone/>
            </a:pPr>
            <a:r>
              <a:rPr lang="en-US" sz="2200" b="1" dirty="0">
                <a:solidFill>
                  <a:srgbClr val="2196C4"/>
                </a:solidFill>
                <a:latin typeface="Calibri" pitchFamily="34" charset="0"/>
                <a:ea typeface="Calibri" pitchFamily="34" charset="-122"/>
                <a:cs typeface="Calibri" pitchFamily="34" charset="-120"/>
              </a:rPr>
              <a:t>RZ = 0.01</a:t>
            </a:r>
            <a:endParaRPr lang="en-US" sz="2200" dirty="0"/>
          </a:p>
        </p:txBody>
      </p:sp>
      <p:sp>
        <p:nvSpPr>
          <p:cNvPr id="14" name="Text 12"/>
          <p:cNvSpPr/>
          <p:nvPr/>
        </p:nvSpPr>
        <p:spPr>
          <a:xfrm>
            <a:off x="320040" y="2788920"/>
            <a:ext cx="4069080" cy="685800"/>
          </a:xfrm>
          <a:prstGeom prst="rect">
            <a:avLst/>
          </a:prstGeom>
          <a:noFill/>
          <a:ln/>
        </p:spPr>
        <p:txBody>
          <a:bodyPr wrap="square" lIns="0" tIns="0" rIns="0" bIns="0" rtlCol="0" anchor="t"/>
          <a:lstStyle/>
          <a:p>
            <a:pPr marL="0" indent="0">
              <a:buNone/>
            </a:pPr>
            <a:r>
              <a:rPr lang="en-US" sz="1200" dirty="0">
                <a:solidFill>
                  <a:srgbClr val="B0C4DE"/>
                </a:solidFill>
                <a:latin typeface="Calibri" pitchFamily="34" charset="0"/>
                <a:ea typeface="Calibri" pitchFamily="34" charset="-122"/>
                <a:cs typeface="Calibri" pitchFamily="34" charset="-120"/>
              </a:rPr>
              <a:t>High RZ-dependence industries concentrated at 0.2–0.4 YoY export growth mark. High-RZ sectors flagged with exposure metric of 0.01 — most sensitive to liquidity constraints.</a:t>
            </a:r>
            <a:endParaRPr lang="en-US" sz="1200" dirty="0"/>
          </a:p>
        </p:txBody>
      </p:sp>
      <p:sp>
        <p:nvSpPr>
          <p:cNvPr id="15" name="Shape 13"/>
          <p:cNvSpPr/>
          <p:nvPr/>
        </p:nvSpPr>
        <p:spPr>
          <a:xfrm>
            <a:off x="182880" y="3666744"/>
            <a:ext cx="4343400" cy="1143000"/>
          </a:xfrm>
          <a:prstGeom prst="rect">
            <a:avLst/>
          </a:prstGeom>
          <a:solidFill>
            <a:srgbClr val="142233"/>
          </a:solidFill>
          <a:ln w="12700">
            <a:solidFill>
              <a:srgbClr val="1A2E47"/>
            </a:solidFill>
            <a:prstDash val="solid"/>
          </a:ln>
        </p:spPr>
        <p:txBody>
          <a:bodyPr/>
          <a:lstStyle/>
          <a:p>
            <a:endParaRPr lang="en-US"/>
          </a:p>
        </p:txBody>
      </p:sp>
      <p:sp>
        <p:nvSpPr>
          <p:cNvPr id="16" name="Shape 14"/>
          <p:cNvSpPr/>
          <p:nvPr/>
        </p:nvSpPr>
        <p:spPr>
          <a:xfrm>
            <a:off x="182880" y="3666744"/>
            <a:ext cx="54864" cy="1143000"/>
          </a:xfrm>
          <a:prstGeom prst="rect">
            <a:avLst/>
          </a:prstGeom>
          <a:solidFill>
            <a:srgbClr val="F5A623"/>
          </a:solidFill>
          <a:ln w="12700">
            <a:solidFill>
              <a:srgbClr val="F5A623"/>
            </a:solidFill>
            <a:prstDash val="solid"/>
          </a:ln>
        </p:spPr>
        <p:txBody>
          <a:bodyPr/>
          <a:lstStyle/>
          <a:p>
            <a:endParaRPr lang="en-US"/>
          </a:p>
        </p:txBody>
      </p:sp>
      <p:sp>
        <p:nvSpPr>
          <p:cNvPr id="17" name="Text 15"/>
          <p:cNvSpPr/>
          <p:nvPr/>
        </p:nvSpPr>
        <p:spPr>
          <a:xfrm>
            <a:off x="320040" y="3758184"/>
            <a:ext cx="2286000" cy="256032"/>
          </a:xfrm>
          <a:prstGeom prst="rect">
            <a:avLst/>
          </a:prstGeom>
          <a:noFill/>
          <a:ln/>
        </p:spPr>
        <p:txBody>
          <a:bodyPr wrap="square" lIns="0" tIns="0" rIns="0" bIns="0" rtlCol="0" anchor="ctr"/>
          <a:lstStyle/>
          <a:p>
            <a:pPr marL="0" indent="0">
              <a:buNone/>
            </a:pPr>
            <a:r>
              <a:rPr lang="en-US" sz="1200" b="1" dirty="0">
                <a:solidFill>
                  <a:srgbClr val="F5A623"/>
                </a:solidFill>
                <a:latin typeface="Calibri" pitchFamily="34" charset="0"/>
                <a:ea typeface="Calibri" pitchFamily="34" charset="-122"/>
                <a:cs typeface="Calibri" pitchFamily="34" charset="-120"/>
              </a:rPr>
              <a:t>Q3 · Policy Effectiveness</a:t>
            </a:r>
            <a:endParaRPr lang="en-US" sz="1200" dirty="0"/>
          </a:p>
        </p:txBody>
      </p:sp>
      <p:sp>
        <p:nvSpPr>
          <p:cNvPr id="18" name="Text 16"/>
          <p:cNvSpPr/>
          <p:nvPr/>
        </p:nvSpPr>
        <p:spPr>
          <a:xfrm>
            <a:off x="3108960" y="3712464"/>
            <a:ext cx="1280160" cy="384048"/>
          </a:xfrm>
          <a:prstGeom prst="rect">
            <a:avLst/>
          </a:prstGeom>
          <a:noFill/>
          <a:ln/>
        </p:spPr>
        <p:txBody>
          <a:bodyPr wrap="square" lIns="0" tIns="0" rIns="0" bIns="0" rtlCol="0" anchor="ctr"/>
          <a:lstStyle/>
          <a:p>
            <a:pPr marL="0" indent="0" algn="r">
              <a:buNone/>
            </a:pPr>
            <a:r>
              <a:rPr lang="en-US" sz="2200" b="1" dirty="0">
                <a:solidFill>
                  <a:srgbClr val="F5A623"/>
                </a:solidFill>
                <a:latin typeface="Calibri" pitchFamily="34" charset="0"/>
                <a:ea typeface="Calibri" pitchFamily="34" charset="-122"/>
                <a:cs typeface="Calibri" pitchFamily="34" charset="-120"/>
              </a:rPr>
              <a:t>0.27</a:t>
            </a:r>
            <a:endParaRPr lang="en-US" sz="2200" dirty="0"/>
          </a:p>
        </p:txBody>
      </p:sp>
      <p:sp>
        <p:nvSpPr>
          <p:cNvPr id="19" name="Text 17"/>
          <p:cNvSpPr/>
          <p:nvPr/>
        </p:nvSpPr>
        <p:spPr>
          <a:xfrm>
            <a:off x="320040" y="4050792"/>
            <a:ext cx="4069080" cy="685800"/>
          </a:xfrm>
          <a:prstGeom prst="rect">
            <a:avLst/>
          </a:prstGeom>
          <a:noFill/>
          <a:ln/>
        </p:spPr>
        <p:txBody>
          <a:bodyPr wrap="square" lIns="0" tIns="0" rIns="0" bIns="0" rtlCol="0" anchor="t"/>
          <a:lstStyle/>
          <a:p>
            <a:pPr marL="0" indent="0">
              <a:buNone/>
            </a:pPr>
            <a:r>
              <a:rPr lang="en-US" sz="1200" dirty="0">
                <a:solidFill>
                  <a:srgbClr val="B0C4DE"/>
                </a:solidFill>
                <a:latin typeface="Calibri" pitchFamily="34" charset="0"/>
                <a:ea typeface="Calibri" pitchFamily="34" charset="-122"/>
                <a:cs typeface="Calibri" pitchFamily="34" charset="-120"/>
              </a:rPr>
              <a:t>Recovery Velocity stands at only 0.27 against an expected growth benchmark of 3.41. Current policy interventions show delayed impact on restoring trade to full potential.</a:t>
            </a:r>
            <a:endParaRPr lang="en-US" sz="1200" dirty="0"/>
          </a:p>
        </p:txBody>
      </p:sp>
      <p:sp>
        <p:nvSpPr>
          <p:cNvPr id="20" name="Shape 18"/>
          <p:cNvSpPr/>
          <p:nvPr/>
        </p:nvSpPr>
        <p:spPr>
          <a:xfrm>
            <a:off x="4754880" y="1143000"/>
            <a:ext cx="4343400" cy="1143000"/>
          </a:xfrm>
          <a:prstGeom prst="rect">
            <a:avLst/>
          </a:prstGeom>
          <a:solidFill>
            <a:srgbClr val="142233"/>
          </a:solidFill>
          <a:ln w="12700">
            <a:solidFill>
              <a:srgbClr val="1A2E47"/>
            </a:solidFill>
            <a:prstDash val="solid"/>
          </a:ln>
        </p:spPr>
        <p:txBody>
          <a:bodyPr/>
          <a:lstStyle/>
          <a:p>
            <a:endParaRPr lang="en-US"/>
          </a:p>
        </p:txBody>
      </p:sp>
      <p:sp>
        <p:nvSpPr>
          <p:cNvPr id="21" name="Shape 19"/>
          <p:cNvSpPr/>
          <p:nvPr/>
        </p:nvSpPr>
        <p:spPr>
          <a:xfrm>
            <a:off x="4754880" y="1143000"/>
            <a:ext cx="54864" cy="1143000"/>
          </a:xfrm>
          <a:prstGeom prst="rect">
            <a:avLst/>
          </a:prstGeom>
          <a:solidFill>
            <a:srgbClr val="9B59B6"/>
          </a:solidFill>
          <a:ln w="12700">
            <a:solidFill>
              <a:srgbClr val="9B59B6"/>
            </a:solidFill>
            <a:prstDash val="solid"/>
          </a:ln>
        </p:spPr>
        <p:txBody>
          <a:bodyPr/>
          <a:lstStyle/>
          <a:p>
            <a:endParaRPr lang="en-US"/>
          </a:p>
        </p:txBody>
      </p:sp>
      <p:sp>
        <p:nvSpPr>
          <p:cNvPr id="22" name="Text 20"/>
          <p:cNvSpPr/>
          <p:nvPr/>
        </p:nvSpPr>
        <p:spPr>
          <a:xfrm>
            <a:off x="4892040" y="1234440"/>
            <a:ext cx="2286000" cy="256032"/>
          </a:xfrm>
          <a:prstGeom prst="rect">
            <a:avLst/>
          </a:prstGeom>
          <a:noFill/>
          <a:ln/>
        </p:spPr>
        <p:txBody>
          <a:bodyPr wrap="square" lIns="0" tIns="0" rIns="0" bIns="0" rtlCol="0" anchor="ctr"/>
          <a:lstStyle/>
          <a:p>
            <a:pPr marL="0" indent="0">
              <a:buNone/>
            </a:pPr>
            <a:r>
              <a:rPr lang="en-US" sz="1200" b="1" dirty="0">
                <a:solidFill>
                  <a:srgbClr val="9B59B6"/>
                </a:solidFill>
                <a:latin typeface="Calibri" pitchFamily="34" charset="0"/>
                <a:ea typeface="Calibri" pitchFamily="34" charset="-122"/>
                <a:cs typeface="Calibri" pitchFamily="34" charset="-120"/>
              </a:rPr>
              <a:t>Q4 · Macro-Financial</a:t>
            </a:r>
            <a:endParaRPr lang="en-US" sz="1200" dirty="0"/>
          </a:p>
        </p:txBody>
      </p:sp>
      <p:sp>
        <p:nvSpPr>
          <p:cNvPr id="23" name="Text 21"/>
          <p:cNvSpPr/>
          <p:nvPr/>
        </p:nvSpPr>
        <p:spPr>
          <a:xfrm>
            <a:off x="7680960" y="1188720"/>
            <a:ext cx="1280160" cy="384048"/>
          </a:xfrm>
          <a:prstGeom prst="rect">
            <a:avLst/>
          </a:prstGeom>
          <a:noFill/>
          <a:ln/>
        </p:spPr>
        <p:txBody>
          <a:bodyPr wrap="square" lIns="0" tIns="0" rIns="0" bIns="0" rtlCol="0" anchor="ctr"/>
          <a:lstStyle/>
          <a:p>
            <a:pPr marL="0" indent="0" algn="r">
              <a:buNone/>
            </a:pPr>
            <a:r>
              <a:rPr lang="en-US" sz="2200" b="1" dirty="0">
                <a:solidFill>
                  <a:srgbClr val="9B59B6"/>
                </a:solidFill>
                <a:latin typeface="Calibri" pitchFamily="34" charset="0"/>
                <a:ea typeface="Calibri" pitchFamily="34" charset="-122"/>
                <a:cs typeface="Calibri" pitchFamily="34" charset="-120"/>
              </a:rPr>
              <a:t>USA 5.8K</a:t>
            </a:r>
            <a:endParaRPr lang="en-US" sz="2200" dirty="0"/>
          </a:p>
        </p:txBody>
      </p:sp>
      <p:sp>
        <p:nvSpPr>
          <p:cNvPr id="24" name="Text 22"/>
          <p:cNvSpPr/>
          <p:nvPr/>
        </p:nvSpPr>
        <p:spPr>
          <a:xfrm>
            <a:off x="4892040" y="1527048"/>
            <a:ext cx="4069080" cy="685800"/>
          </a:xfrm>
          <a:prstGeom prst="rect">
            <a:avLst/>
          </a:prstGeom>
          <a:noFill/>
          <a:ln/>
        </p:spPr>
        <p:txBody>
          <a:bodyPr wrap="square" lIns="0" tIns="0" rIns="0" bIns="0" rtlCol="0" anchor="t"/>
          <a:lstStyle/>
          <a:p>
            <a:pPr marL="0" indent="0">
              <a:buNone/>
            </a:pPr>
            <a:r>
              <a:rPr lang="en-US" sz="1200" dirty="0">
                <a:solidFill>
                  <a:srgbClr val="B0C4DE"/>
                </a:solidFill>
                <a:latin typeface="Calibri" pitchFamily="34" charset="0"/>
                <a:ea typeface="Calibri" pitchFamily="34" charset="-122"/>
                <a:cs typeface="Calibri" pitchFamily="34" charset="-120"/>
              </a:rPr>
              <a:t>USA shows highest credit depth at 5.8K vs Japan at 3.2K. Higher credit depth supports trade volumes but increases systemic risk — USA carries individual risk component of 0.91.</a:t>
            </a:r>
            <a:endParaRPr lang="en-US" sz="1200" dirty="0"/>
          </a:p>
        </p:txBody>
      </p:sp>
      <p:sp>
        <p:nvSpPr>
          <p:cNvPr id="25" name="Shape 23"/>
          <p:cNvSpPr/>
          <p:nvPr/>
        </p:nvSpPr>
        <p:spPr>
          <a:xfrm>
            <a:off x="4754880" y="2404872"/>
            <a:ext cx="4343400" cy="1143000"/>
          </a:xfrm>
          <a:prstGeom prst="rect">
            <a:avLst/>
          </a:prstGeom>
          <a:solidFill>
            <a:srgbClr val="142233"/>
          </a:solidFill>
          <a:ln w="12700">
            <a:solidFill>
              <a:srgbClr val="1A2E47"/>
            </a:solidFill>
            <a:prstDash val="solid"/>
          </a:ln>
        </p:spPr>
        <p:txBody>
          <a:bodyPr/>
          <a:lstStyle/>
          <a:p>
            <a:endParaRPr lang="en-US"/>
          </a:p>
        </p:txBody>
      </p:sp>
      <p:sp>
        <p:nvSpPr>
          <p:cNvPr id="26" name="Shape 24"/>
          <p:cNvSpPr/>
          <p:nvPr/>
        </p:nvSpPr>
        <p:spPr>
          <a:xfrm>
            <a:off x="4754880" y="2404872"/>
            <a:ext cx="54864" cy="1143000"/>
          </a:xfrm>
          <a:prstGeom prst="rect">
            <a:avLst/>
          </a:prstGeom>
          <a:solidFill>
            <a:srgbClr val="E74C3C"/>
          </a:solidFill>
          <a:ln w="12700">
            <a:solidFill>
              <a:srgbClr val="E74C3C"/>
            </a:solidFill>
            <a:prstDash val="solid"/>
          </a:ln>
        </p:spPr>
        <p:txBody>
          <a:bodyPr/>
          <a:lstStyle/>
          <a:p>
            <a:endParaRPr lang="en-US"/>
          </a:p>
        </p:txBody>
      </p:sp>
      <p:sp>
        <p:nvSpPr>
          <p:cNvPr id="27" name="Text 25"/>
          <p:cNvSpPr/>
          <p:nvPr/>
        </p:nvSpPr>
        <p:spPr>
          <a:xfrm>
            <a:off x="4892040" y="2496312"/>
            <a:ext cx="2286000" cy="256032"/>
          </a:xfrm>
          <a:prstGeom prst="rect">
            <a:avLst/>
          </a:prstGeom>
          <a:noFill/>
          <a:ln/>
        </p:spPr>
        <p:txBody>
          <a:bodyPr wrap="square" lIns="0" tIns="0" rIns="0" bIns="0" rtlCol="0" anchor="ctr"/>
          <a:lstStyle/>
          <a:p>
            <a:pPr marL="0" indent="0">
              <a:buNone/>
            </a:pPr>
            <a:r>
              <a:rPr lang="en-US" sz="1200" b="1" dirty="0">
                <a:solidFill>
                  <a:srgbClr val="E74C3C"/>
                </a:solidFill>
                <a:latin typeface="Calibri" pitchFamily="34" charset="0"/>
                <a:ea typeface="Calibri" pitchFamily="34" charset="-122"/>
                <a:cs typeface="Calibri" pitchFamily="34" charset="-120"/>
              </a:rPr>
              <a:t>Q5 · Global Sensitivity</a:t>
            </a:r>
            <a:endParaRPr lang="en-US" sz="1200" dirty="0"/>
          </a:p>
        </p:txBody>
      </p:sp>
      <p:sp>
        <p:nvSpPr>
          <p:cNvPr id="28" name="Text 26"/>
          <p:cNvSpPr/>
          <p:nvPr/>
        </p:nvSpPr>
        <p:spPr>
          <a:xfrm>
            <a:off x="7680960" y="2450592"/>
            <a:ext cx="1280160" cy="384048"/>
          </a:xfrm>
          <a:prstGeom prst="rect">
            <a:avLst/>
          </a:prstGeom>
          <a:noFill/>
          <a:ln/>
        </p:spPr>
        <p:txBody>
          <a:bodyPr wrap="square" lIns="0" tIns="0" rIns="0" bIns="0" rtlCol="0" anchor="ctr"/>
          <a:lstStyle/>
          <a:p>
            <a:pPr marL="0" indent="0" algn="r">
              <a:buNone/>
            </a:pPr>
            <a:r>
              <a:rPr lang="en-US" sz="2000" b="1" dirty="0">
                <a:solidFill>
                  <a:srgbClr val="E74C3C"/>
                </a:solidFill>
                <a:latin typeface="Calibri" pitchFamily="34" charset="0"/>
                <a:ea typeface="Calibri" pitchFamily="34" charset="-122"/>
                <a:cs typeface="Calibri" pitchFamily="34" charset="-120"/>
              </a:rPr>
              <a:t>1.82 vs 0.45</a:t>
            </a:r>
            <a:endParaRPr lang="en-US" sz="2000" dirty="0"/>
          </a:p>
        </p:txBody>
      </p:sp>
      <p:sp>
        <p:nvSpPr>
          <p:cNvPr id="29" name="Text 27"/>
          <p:cNvSpPr/>
          <p:nvPr/>
        </p:nvSpPr>
        <p:spPr>
          <a:xfrm>
            <a:off x="4892040" y="2788920"/>
            <a:ext cx="4069080" cy="685800"/>
          </a:xfrm>
          <a:prstGeom prst="rect">
            <a:avLst/>
          </a:prstGeom>
          <a:noFill/>
          <a:ln/>
        </p:spPr>
        <p:txBody>
          <a:bodyPr wrap="square" lIns="0" tIns="0" rIns="0" bIns="0" rtlCol="0" anchor="t"/>
          <a:lstStyle/>
          <a:p>
            <a:pPr marL="0" indent="0">
              <a:buNone/>
            </a:pPr>
            <a:r>
              <a:rPr lang="en-US" sz="1200" dirty="0">
                <a:solidFill>
                  <a:srgbClr val="B0C4DE"/>
                </a:solidFill>
                <a:latin typeface="Calibri" pitchFamily="34" charset="0"/>
                <a:ea typeface="Calibri" pitchFamily="34" charset="-122"/>
                <a:cs typeface="Calibri" pitchFamily="34" charset="-120"/>
              </a:rPr>
              <a:t>Developed nations (USA 1.82, Japan 1.03) show higher risk indices than developing nations (Panama 0.45, Jordan 0.45) — integrated economies absorb more global macro shocks.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US"/>
          </a:p>
        </p:txBody>
      </p:sp>
      <p:sp>
        <p:nvSpPr>
          <p:cNvPr id="3" name="Shape 1"/>
          <p:cNvSpPr/>
          <p:nvPr/>
        </p:nvSpPr>
        <p:spPr>
          <a:xfrm>
            <a:off x="0" y="0"/>
            <a:ext cx="64008" cy="5143500"/>
          </a:xfrm>
          <a:prstGeom prst="rect">
            <a:avLst/>
          </a:prstGeom>
          <a:solidFill>
            <a:srgbClr val="00C9A7"/>
          </a:solidFill>
          <a:ln w="12700">
            <a:solidFill>
              <a:srgbClr val="00C9A7"/>
            </a:solidFill>
            <a:prstDash val="solid"/>
          </a:ln>
        </p:spPr>
        <p:txBody>
          <a:bodyPr/>
          <a:lstStyle/>
          <a:p>
            <a:endParaRPr lang="en-US"/>
          </a:p>
        </p:txBody>
      </p:sp>
      <p:sp>
        <p:nvSpPr>
          <p:cNvPr id="4" name="Text 2"/>
          <p:cNvSpPr/>
          <p:nvPr/>
        </p:nvSpPr>
        <p:spPr>
          <a:xfrm>
            <a:off x="274320" y="0"/>
            <a:ext cx="8595360" cy="960120"/>
          </a:xfrm>
          <a:prstGeom prst="rect">
            <a:avLst/>
          </a:prstGeom>
          <a:noFill/>
          <a:ln/>
        </p:spPr>
        <p:txBody>
          <a:bodyPr wrap="square" lIns="0" tIns="0" rIns="0" bIns="0" rtlCol="0" anchor="ctr"/>
          <a:lstStyle/>
          <a:p>
            <a:pPr marL="0" indent="0">
              <a:buNone/>
            </a:pPr>
            <a:r>
              <a:rPr lang="en-US" sz="2000" b="1" kern="0" spc="200" dirty="0">
                <a:solidFill>
                  <a:srgbClr val="FFFFFF"/>
                </a:solidFill>
                <a:latin typeface="Calibri" pitchFamily="34" charset="0"/>
                <a:ea typeface="Calibri" pitchFamily="34" charset="-122"/>
                <a:cs typeface="Calibri" pitchFamily="34" charset="-120"/>
              </a:rPr>
              <a:t>POWER BI DASHBOARD ARCHITECTURE</a:t>
            </a:r>
            <a:endParaRPr lang="en-US" sz="2000" dirty="0"/>
          </a:p>
        </p:txBody>
      </p:sp>
      <p:sp>
        <p:nvSpPr>
          <p:cNvPr id="5" name="Shape 3"/>
          <p:cNvSpPr/>
          <p:nvPr/>
        </p:nvSpPr>
        <p:spPr>
          <a:xfrm>
            <a:off x="228600" y="1097280"/>
            <a:ext cx="4224528" cy="1783080"/>
          </a:xfrm>
          <a:prstGeom prst="rect">
            <a:avLst/>
          </a:prstGeom>
          <a:solidFill>
            <a:srgbClr val="0D1B2A"/>
          </a:solidFill>
          <a:ln w="12700">
            <a:solidFill>
              <a:srgbClr val="1A2E47"/>
            </a:solidFill>
            <a:prstDash val="solid"/>
          </a:ln>
          <a:effectLst>
            <a:outerShdw blurRad="76200" dist="25400" dir="8100000" algn="bl" rotWithShape="0">
              <a:srgbClr val="000000">
                <a:alpha val="15000"/>
              </a:srgbClr>
            </a:outerShdw>
          </a:effectLst>
        </p:spPr>
        <p:txBody>
          <a:bodyPr/>
          <a:lstStyle/>
          <a:p>
            <a:endParaRPr lang="en-US"/>
          </a:p>
        </p:txBody>
      </p:sp>
      <p:sp>
        <p:nvSpPr>
          <p:cNvPr id="6" name="Shape 4"/>
          <p:cNvSpPr/>
          <p:nvPr/>
        </p:nvSpPr>
        <p:spPr>
          <a:xfrm>
            <a:off x="228600" y="1097280"/>
            <a:ext cx="4224528" cy="64008"/>
          </a:xfrm>
          <a:prstGeom prst="rect">
            <a:avLst/>
          </a:prstGeom>
          <a:solidFill>
            <a:srgbClr val="00C9A7"/>
          </a:solidFill>
          <a:ln w="12700">
            <a:solidFill>
              <a:srgbClr val="00C9A7"/>
            </a:solidFill>
            <a:prstDash val="solid"/>
          </a:ln>
        </p:spPr>
        <p:txBody>
          <a:bodyPr/>
          <a:lstStyle/>
          <a:p>
            <a:endParaRPr lang="en-US"/>
          </a:p>
        </p:txBody>
      </p:sp>
      <p:sp>
        <p:nvSpPr>
          <p:cNvPr id="7" name="Shape 5"/>
          <p:cNvSpPr/>
          <p:nvPr/>
        </p:nvSpPr>
        <p:spPr>
          <a:xfrm>
            <a:off x="365760" y="1280160"/>
            <a:ext cx="640080" cy="640080"/>
          </a:xfrm>
          <a:prstGeom prst="rect">
            <a:avLst/>
          </a:prstGeom>
          <a:solidFill>
            <a:srgbClr val="00C9A7">
              <a:alpha val="20000"/>
            </a:srgbClr>
          </a:solidFill>
          <a:ln w="12700">
            <a:solidFill>
              <a:srgbClr val="00C9A7">
                <a:alpha val="20000"/>
              </a:srgbClr>
            </a:solidFill>
            <a:prstDash val="solid"/>
          </a:ln>
        </p:spPr>
        <p:txBody>
          <a:bodyPr/>
          <a:lstStyle/>
          <a:p>
            <a:endParaRPr lang="en-US"/>
          </a:p>
        </p:txBody>
      </p:sp>
      <p:sp>
        <p:nvSpPr>
          <p:cNvPr id="8" name="Text 6"/>
          <p:cNvSpPr/>
          <p:nvPr/>
        </p:nvSpPr>
        <p:spPr>
          <a:xfrm>
            <a:off x="365760" y="1280160"/>
            <a:ext cx="640080" cy="6400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9" name="Text 7"/>
          <p:cNvSpPr/>
          <p:nvPr/>
        </p:nvSpPr>
        <p:spPr>
          <a:xfrm>
            <a:off x="1143000" y="1261872"/>
            <a:ext cx="3108960" cy="256032"/>
          </a:xfrm>
          <a:prstGeom prst="rect">
            <a:avLst/>
          </a:prstGeom>
          <a:noFill/>
          <a:ln/>
        </p:spPr>
        <p:txBody>
          <a:bodyPr wrap="square" lIns="0" tIns="0" rIns="0" bIns="0" rtlCol="0" anchor="ctr"/>
          <a:lstStyle/>
          <a:p>
            <a:pPr marL="0" indent="0">
              <a:buNone/>
            </a:pPr>
            <a:r>
              <a:rPr lang="en-US" sz="900" b="1" dirty="0">
                <a:solidFill>
                  <a:srgbClr val="00C9A7"/>
                </a:solidFill>
                <a:latin typeface="Calibri" pitchFamily="34" charset="0"/>
                <a:ea typeface="Calibri" pitchFamily="34" charset="-122"/>
                <a:cs typeface="Calibri" pitchFamily="34" charset="-120"/>
              </a:rPr>
              <a:t>Page 1</a:t>
            </a:r>
            <a:endParaRPr lang="en-US" sz="900" dirty="0"/>
          </a:p>
        </p:txBody>
      </p:sp>
      <p:sp>
        <p:nvSpPr>
          <p:cNvPr id="10" name="Text 8"/>
          <p:cNvSpPr/>
          <p:nvPr/>
        </p:nvSpPr>
        <p:spPr>
          <a:xfrm>
            <a:off x="1143000" y="1508760"/>
            <a:ext cx="310896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Global Crisis Tracker</a:t>
            </a:r>
            <a:endParaRPr lang="en-US" sz="1300" dirty="0"/>
          </a:p>
        </p:txBody>
      </p:sp>
      <p:sp>
        <p:nvSpPr>
          <p:cNvPr id="11" name="Text 9"/>
          <p:cNvSpPr/>
          <p:nvPr/>
        </p:nvSpPr>
        <p:spPr>
          <a:xfrm>
            <a:off x="411480" y="1965960"/>
            <a:ext cx="3858768" cy="804672"/>
          </a:xfrm>
          <a:prstGeom prst="rect">
            <a:avLst/>
          </a:prstGeom>
          <a:noFill/>
          <a:ln/>
        </p:spPr>
        <p:txBody>
          <a:bodyPr wrap="square" lIns="0" tIns="0" rIns="0" bIns="0" rtlCol="0" anchor="t"/>
          <a:lstStyle/>
          <a:p>
            <a:pPr marL="0" indent="0">
              <a:buNone/>
            </a:pPr>
            <a:r>
              <a:rPr lang="en-US" sz="1200" dirty="0">
                <a:solidFill>
                  <a:srgbClr val="B0C4DE"/>
                </a:solidFill>
                <a:latin typeface="Calibri" pitchFamily="34" charset="0"/>
                <a:ea typeface="Calibri" pitchFamily="34" charset="-122"/>
                <a:cs typeface="Calibri" pitchFamily="34" charset="-120"/>
              </a:rPr>
              <a:t>Interactive world map with crisis slicers. Filter by BANK, TWIN, recession status. Identifies 23 countries currently in recessionary states.</a:t>
            </a:r>
            <a:endParaRPr lang="en-US" sz="1200" dirty="0"/>
          </a:p>
        </p:txBody>
      </p:sp>
      <p:sp>
        <p:nvSpPr>
          <p:cNvPr id="12" name="Shape 10"/>
          <p:cNvSpPr/>
          <p:nvPr/>
        </p:nvSpPr>
        <p:spPr>
          <a:xfrm>
            <a:off x="4690872" y="1097280"/>
            <a:ext cx="4224528" cy="1783080"/>
          </a:xfrm>
          <a:prstGeom prst="rect">
            <a:avLst/>
          </a:prstGeom>
          <a:solidFill>
            <a:srgbClr val="0D1B2A"/>
          </a:solidFill>
          <a:ln w="12700">
            <a:solidFill>
              <a:srgbClr val="1A2E47"/>
            </a:solidFill>
            <a:prstDash val="solid"/>
          </a:ln>
          <a:effectLst>
            <a:outerShdw blurRad="76200" dist="25400" dir="8100000" algn="bl" rotWithShape="0">
              <a:srgbClr val="000000">
                <a:alpha val="15000"/>
              </a:srgbClr>
            </a:outerShdw>
          </a:effectLst>
        </p:spPr>
        <p:txBody>
          <a:bodyPr/>
          <a:lstStyle/>
          <a:p>
            <a:endParaRPr lang="en-US"/>
          </a:p>
        </p:txBody>
      </p:sp>
      <p:sp>
        <p:nvSpPr>
          <p:cNvPr id="13" name="Shape 11"/>
          <p:cNvSpPr/>
          <p:nvPr/>
        </p:nvSpPr>
        <p:spPr>
          <a:xfrm>
            <a:off x="4690872" y="1097280"/>
            <a:ext cx="4224528" cy="64008"/>
          </a:xfrm>
          <a:prstGeom prst="rect">
            <a:avLst/>
          </a:prstGeom>
          <a:solidFill>
            <a:srgbClr val="2196C4"/>
          </a:solidFill>
          <a:ln w="12700">
            <a:solidFill>
              <a:srgbClr val="2196C4"/>
            </a:solidFill>
            <a:prstDash val="solid"/>
          </a:ln>
        </p:spPr>
        <p:txBody>
          <a:bodyPr/>
          <a:lstStyle/>
          <a:p>
            <a:endParaRPr lang="en-US"/>
          </a:p>
        </p:txBody>
      </p:sp>
      <p:sp>
        <p:nvSpPr>
          <p:cNvPr id="14" name="Shape 12"/>
          <p:cNvSpPr/>
          <p:nvPr/>
        </p:nvSpPr>
        <p:spPr>
          <a:xfrm>
            <a:off x="4828032" y="1280160"/>
            <a:ext cx="640080" cy="640080"/>
          </a:xfrm>
          <a:prstGeom prst="rect">
            <a:avLst/>
          </a:prstGeom>
          <a:solidFill>
            <a:srgbClr val="2196C4">
              <a:alpha val="20000"/>
            </a:srgbClr>
          </a:solidFill>
          <a:ln w="12700">
            <a:solidFill>
              <a:srgbClr val="2196C4">
                <a:alpha val="20000"/>
              </a:srgbClr>
            </a:solidFill>
            <a:prstDash val="solid"/>
          </a:ln>
        </p:spPr>
        <p:txBody>
          <a:bodyPr/>
          <a:lstStyle/>
          <a:p>
            <a:endParaRPr lang="en-US"/>
          </a:p>
        </p:txBody>
      </p:sp>
      <p:sp>
        <p:nvSpPr>
          <p:cNvPr id="15" name="Text 13"/>
          <p:cNvSpPr/>
          <p:nvPr/>
        </p:nvSpPr>
        <p:spPr>
          <a:xfrm>
            <a:off x="4828032" y="1280160"/>
            <a:ext cx="640080" cy="6400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6" name="Text 14"/>
          <p:cNvSpPr/>
          <p:nvPr/>
        </p:nvSpPr>
        <p:spPr>
          <a:xfrm>
            <a:off x="5605272" y="1261872"/>
            <a:ext cx="3108960" cy="256032"/>
          </a:xfrm>
          <a:prstGeom prst="rect">
            <a:avLst/>
          </a:prstGeom>
          <a:noFill/>
          <a:ln/>
        </p:spPr>
        <p:txBody>
          <a:bodyPr wrap="square" lIns="0" tIns="0" rIns="0" bIns="0" rtlCol="0" anchor="ctr"/>
          <a:lstStyle/>
          <a:p>
            <a:pPr marL="0" indent="0">
              <a:buNone/>
            </a:pPr>
            <a:r>
              <a:rPr lang="en-US" sz="900" b="1" dirty="0">
                <a:solidFill>
                  <a:srgbClr val="2196C4"/>
                </a:solidFill>
                <a:latin typeface="Calibri" pitchFamily="34" charset="0"/>
                <a:ea typeface="Calibri" pitchFamily="34" charset="-122"/>
                <a:cs typeface="Calibri" pitchFamily="34" charset="-120"/>
              </a:rPr>
              <a:t>Page 2</a:t>
            </a:r>
            <a:endParaRPr lang="en-US" sz="900" dirty="0"/>
          </a:p>
        </p:txBody>
      </p:sp>
      <p:sp>
        <p:nvSpPr>
          <p:cNvPr id="17" name="Text 15"/>
          <p:cNvSpPr/>
          <p:nvPr/>
        </p:nvSpPr>
        <p:spPr>
          <a:xfrm>
            <a:off x="5605272" y="1508760"/>
            <a:ext cx="310896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Sectoral Deep Dive</a:t>
            </a:r>
            <a:endParaRPr lang="en-US" sz="1300" dirty="0"/>
          </a:p>
        </p:txBody>
      </p:sp>
      <p:sp>
        <p:nvSpPr>
          <p:cNvPr id="18" name="Text 16"/>
          <p:cNvSpPr/>
          <p:nvPr/>
        </p:nvSpPr>
        <p:spPr>
          <a:xfrm>
            <a:off x="4873752" y="1965960"/>
            <a:ext cx="3858768" cy="804672"/>
          </a:xfrm>
          <a:prstGeom prst="rect">
            <a:avLst/>
          </a:prstGeom>
          <a:noFill/>
          <a:ln/>
        </p:spPr>
        <p:txBody>
          <a:bodyPr wrap="square" lIns="0" tIns="0" rIns="0" bIns="0" rtlCol="0" anchor="t"/>
          <a:lstStyle/>
          <a:p>
            <a:pPr marL="0" indent="0">
              <a:buNone/>
            </a:pPr>
            <a:r>
              <a:rPr lang="en-US" sz="1200" dirty="0">
                <a:solidFill>
                  <a:srgbClr val="B0C4DE"/>
                </a:solidFill>
                <a:latin typeface="Calibri" pitchFamily="34" charset="0"/>
                <a:ea typeface="Calibri" pitchFamily="34" charset="-122"/>
                <a:cs typeface="Calibri" pitchFamily="34" charset="-120"/>
              </a:rPr>
              <a:t>Scatter chart: RZ Financial Dependence vs. Export Growth. Highlights high-risk industries with durable goods analysis and CCC metrics.</a:t>
            </a:r>
            <a:endParaRPr lang="en-US" sz="1200" dirty="0"/>
          </a:p>
        </p:txBody>
      </p:sp>
      <p:sp>
        <p:nvSpPr>
          <p:cNvPr id="19" name="Shape 17"/>
          <p:cNvSpPr/>
          <p:nvPr/>
        </p:nvSpPr>
        <p:spPr>
          <a:xfrm>
            <a:off x="228600" y="3108960"/>
            <a:ext cx="4224528" cy="1783080"/>
          </a:xfrm>
          <a:prstGeom prst="rect">
            <a:avLst/>
          </a:prstGeom>
          <a:solidFill>
            <a:srgbClr val="0D1B2A"/>
          </a:solidFill>
          <a:ln w="12700">
            <a:solidFill>
              <a:srgbClr val="1A2E47"/>
            </a:solidFill>
            <a:prstDash val="solid"/>
          </a:ln>
          <a:effectLst>
            <a:outerShdw blurRad="76200" dist="25400" dir="8100000" algn="bl" rotWithShape="0">
              <a:srgbClr val="000000">
                <a:alpha val="15000"/>
              </a:srgbClr>
            </a:outerShdw>
          </a:effectLst>
        </p:spPr>
        <p:txBody>
          <a:bodyPr/>
          <a:lstStyle/>
          <a:p>
            <a:endParaRPr lang="en-US"/>
          </a:p>
        </p:txBody>
      </p:sp>
      <p:sp>
        <p:nvSpPr>
          <p:cNvPr id="20" name="Shape 18"/>
          <p:cNvSpPr/>
          <p:nvPr/>
        </p:nvSpPr>
        <p:spPr>
          <a:xfrm>
            <a:off x="228600" y="3108960"/>
            <a:ext cx="4224528" cy="64008"/>
          </a:xfrm>
          <a:prstGeom prst="rect">
            <a:avLst/>
          </a:prstGeom>
          <a:solidFill>
            <a:srgbClr val="F5A623"/>
          </a:solidFill>
          <a:ln w="12700">
            <a:solidFill>
              <a:srgbClr val="F5A623"/>
            </a:solidFill>
            <a:prstDash val="solid"/>
          </a:ln>
        </p:spPr>
        <p:txBody>
          <a:bodyPr/>
          <a:lstStyle/>
          <a:p>
            <a:endParaRPr lang="en-US"/>
          </a:p>
        </p:txBody>
      </p:sp>
      <p:sp>
        <p:nvSpPr>
          <p:cNvPr id="21" name="Shape 19"/>
          <p:cNvSpPr/>
          <p:nvPr/>
        </p:nvSpPr>
        <p:spPr>
          <a:xfrm>
            <a:off x="365760" y="3291840"/>
            <a:ext cx="640080" cy="640080"/>
          </a:xfrm>
          <a:prstGeom prst="rect">
            <a:avLst/>
          </a:prstGeom>
          <a:solidFill>
            <a:srgbClr val="F5A623">
              <a:alpha val="20000"/>
            </a:srgbClr>
          </a:solidFill>
          <a:ln w="12700">
            <a:solidFill>
              <a:srgbClr val="F5A623">
                <a:alpha val="20000"/>
              </a:srgbClr>
            </a:solidFill>
            <a:prstDash val="solid"/>
          </a:ln>
        </p:spPr>
        <p:txBody>
          <a:bodyPr/>
          <a:lstStyle/>
          <a:p>
            <a:endParaRPr lang="en-US"/>
          </a:p>
        </p:txBody>
      </p:sp>
      <p:sp>
        <p:nvSpPr>
          <p:cNvPr id="22" name="Text 20"/>
          <p:cNvSpPr/>
          <p:nvPr/>
        </p:nvSpPr>
        <p:spPr>
          <a:xfrm>
            <a:off x="365760" y="3291840"/>
            <a:ext cx="640080" cy="6400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3" name="Text 21"/>
          <p:cNvSpPr/>
          <p:nvPr/>
        </p:nvSpPr>
        <p:spPr>
          <a:xfrm>
            <a:off x="1143000" y="3273552"/>
            <a:ext cx="3108960" cy="256032"/>
          </a:xfrm>
          <a:prstGeom prst="rect">
            <a:avLst/>
          </a:prstGeom>
          <a:noFill/>
          <a:ln/>
        </p:spPr>
        <p:txBody>
          <a:bodyPr wrap="square" lIns="0" tIns="0" rIns="0" bIns="0" rtlCol="0" anchor="ctr"/>
          <a:lstStyle/>
          <a:p>
            <a:pPr marL="0" indent="0">
              <a:buNone/>
            </a:pPr>
            <a:r>
              <a:rPr lang="en-US" sz="900" b="1" dirty="0">
                <a:solidFill>
                  <a:srgbClr val="F5A623"/>
                </a:solidFill>
                <a:latin typeface="Calibri" pitchFamily="34" charset="0"/>
                <a:ea typeface="Calibri" pitchFamily="34" charset="-122"/>
                <a:cs typeface="Calibri" pitchFamily="34" charset="-120"/>
              </a:rPr>
              <a:t>Page 3</a:t>
            </a:r>
            <a:endParaRPr lang="en-US" sz="900" dirty="0"/>
          </a:p>
        </p:txBody>
      </p:sp>
      <p:sp>
        <p:nvSpPr>
          <p:cNvPr id="24" name="Text 22"/>
          <p:cNvSpPr/>
          <p:nvPr/>
        </p:nvSpPr>
        <p:spPr>
          <a:xfrm>
            <a:off x="1143000" y="3520440"/>
            <a:ext cx="310896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Policy Impact Lab</a:t>
            </a:r>
            <a:endParaRPr lang="en-US" sz="1300" dirty="0"/>
          </a:p>
        </p:txBody>
      </p:sp>
      <p:sp>
        <p:nvSpPr>
          <p:cNvPr id="25" name="Text 23"/>
          <p:cNvSpPr/>
          <p:nvPr/>
        </p:nvSpPr>
        <p:spPr>
          <a:xfrm>
            <a:off x="411480" y="3977640"/>
            <a:ext cx="3858768" cy="804672"/>
          </a:xfrm>
          <a:prstGeom prst="rect">
            <a:avLst/>
          </a:prstGeom>
          <a:noFill/>
          <a:ln/>
        </p:spPr>
        <p:txBody>
          <a:bodyPr wrap="square" lIns="0" tIns="0" rIns="0" bIns="0" rtlCol="0" anchor="t"/>
          <a:lstStyle/>
          <a:p>
            <a:pPr marL="0" indent="0">
              <a:buNone/>
            </a:pPr>
            <a:r>
              <a:rPr lang="en-US" sz="1200" dirty="0">
                <a:solidFill>
                  <a:srgbClr val="B0C4DE"/>
                </a:solidFill>
                <a:latin typeface="Calibri" pitchFamily="34" charset="0"/>
                <a:ea typeface="Calibri" pitchFamily="34" charset="-122"/>
                <a:cs typeface="Calibri" pitchFamily="34" charset="-120"/>
              </a:rPr>
              <a:t>Bar charts comparing recovery rates across liquidity support (liqsup), recapitalization (recaps), and debt relief (debtrelief) interventions.</a:t>
            </a:r>
            <a:endParaRPr lang="en-US" sz="1200" dirty="0"/>
          </a:p>
        </p:txBody>
      </p:sp>
      <p:sp>
        <p:nvSpPr>
          <p:cNvPr id="26" name="Shape 24"/>
          <p:cNvSpPr/>
          <p:nvPr/>
        </p:nvSpPr>
        <p:spPr>
          <a:xfrm>
            <a:off x="4690872" y="3108960"/>
            <a:ext cx="4224528" cy="1783080"/>
          </a:xfrm>
          <a:prstGeom prst="rect">
            <a:avLst/>
          </a:prstGeom>
          <a:solidFill>
            <a:srgbClr val="0D1B2A"/>
          </a:solidFill>
          <a:ln w="12700">
            <a:solidFill>
              <a:srgbClr val="1A2E47"/>
            </a:solidFill>
            <a:prstDash val="solid"/>
          </a:ln>
          <a:effectLst>
            <a:outerShdw blurRad="76200" dist="25400" dir="8100000" algn="bl" rotWithShape="0">
              <a:srgbClr val="000000">
                <a:alpha val="15000"/>
              </a:srgbClr>
            </a:outerShdw>
          </a:effectLst>
        </p:spPr>
        <p:txBody>
          <a:bodyPr/>
          <a:lstStyle/>
          <a:p>
            <a:endParaRPr lang="en-US"/>
          </a:p>
        </p:txBody>
      </p:sp>
      <p:sp>
        <p:nvSpPr>
          <p:cNvPr id="27" name="Shape 25"/>
          <p:cNvSpPr/>
          <p:nvPr/>
        </p:nvSpPr>
        <p:spPr>
          <a:xfrm>
            <a:off x="4690872" y="3108960"/>
            <a:ext cx="4224528" cy="64008"/>
          </a:xfrm>
          <a:prstGeom prst="rect">
            <a:avLst/>
          </a:prstGeom>
          <a:solidFill>
            <a:srgbClr val="9B59B6"/>
          </a:solidFill>
          <a:ln w="12700">
            <a:solidFill>
              <a:srgbClr val="9B59B6"/>
            </a:solidFill>
            <a:prstDash val="solid"/>
          </a:ln>
        </p:spPr>
        <p:txBody>
          <a:bodyPr/>
          <a:lstStyle/>
          <a:p>
            <a:endParaRPr lang="en-US"/>
          </a:p>
        </p:txBody>
      </p:sp>
      <p:sp>
        <p:nvSpPr>
          <p:cNvPr id="28" name="Shape 26"/>
          <p:cNvSpPr/>
          <p:nvPr/>
        </p:nvSpPr>
        <p:spPr>
          <a:xfrm>
            <a:off x="4828032" y="3291840"/>
            <a:ext cx="640080" cy="640080"/>
          </a:xfrm>
          <a:prstGeom prst="rect">
            <a:avLst/>
          </a:prstGeom>
          <a:solidFill>
            <a:srgbClr val="9B59B6">
              <a:alpha val="20000"/>
            </a:srgbClr>
          </a:solidFill>
          <a:ln w="12700">
            <a:solidFill>
              <a:srgbClr val="9B59B6">
                <a:alpha val="20000"/>
              </a:srgbClr>
            </a:solidFill>
            <a:prstDash val="solid"/>
          </a:ln>
        </p:spPr>
        <p:txBody>
          <a:bodyPr/>
          <a:lstStyle/>
          <a:p>
            <a:endParaRPr lang="en-US"/>
          </a:p>
        </p:txBody>
      </p:sp>
      <p:sp>
        <p:nvSpPr>
          <p:cNvPr id="29" name="Text 27"/>
          <p:cNvSpPr/>
          <p:nvPr/>
        </p:nvSpPr>
        <p:spPr>
          <a:xfrm>
            <a:off x="4828032" y="3291840"/>
            <a:ext cx="640080" cy="6400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30" name="Text 28"/>
          <p:cNvSpPr/>
          <p:nvPr/>
        </p:nvSpPr>
        <p:spPr>
          <a:xfrm>
            <a:off x="5605272" y="3273552"/>
            <a:ext cx="3108960" cy="256032"/>
          </a:xfrm>
          <a:prstGeom prst="rect">
            <a:avLst/>
          </a:prstGeom>
          <a:noFill/>
          <a:ln/>
        </p:spPr>
        <p:txBody>
          <a:bodyPr wrap="square" lIns="0" tIns="0" rIns="0" bIns="0" rtlCol="0" anchor="ctr"/>
          <a:lstStyle/>
          <a:p>
            <a:pPr marL="0" indent="0">
              <a:buNone/>
            </a:pPr>
            <a:r>
              <a:rPr lang="en-US" sz="900" b="1" dirty="0">
                <a:solidFill>
                  <a:srgbClr val="9B59B6"/>
                </a:solidFill>
                <a:latin typeface="Calibri" pitchFamily="34" charset="0"/>
                <a:ea typeface="Calibri" pitchFamily="34" charset="-122"/>
                <a:cs typeface="Calibri" pitchFamily="34" charset="-120"/>
              </a:rPr>
              <a:t>Page 4</a:t>
            </a:r>
            <a:endParaRPr lang="en-US" sz="900" dirty="0"/>
          </a:p>
        </p:txBody>
      </p:sp>
      <p:sp>
        <p:nvSpPr>
          <p:cNvPr id="31" name="Text 29"/>
          <p:cNvSpPr/>
          <p:nvPr/>
        </p:nvSpPr>
        <p:spPr>
          <a:xfrm>
            <a:off x="5605272" y="3520440"/>
            <a:ext cx="310896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Drill-Through Detail</a:t>
            </a:r>
            <a:endParaRPr lang="en-US" sz="1300" dirty="0"/>
          </a:p>
        </p:txBody>
      </p:sp>
      <p:sp>
        <p:nvSpPr>
          <p:cNvPr id="32" name="Text 30"/>
          <p:cNvSpPr/>
          <p:nvPr/>
        </p:nvSpPr>
        <p:spPr>
          <a:xfrm>
            <a:off x="4873752" y="3977640"/>
            <a:ext cx="3858768" cy="804672"/>
          </a:xfrm>
          <a:prstGeom prst="rect">
            <a:avLst/>
          </a:prstGeom>
          <a:noFill/>
          <a:ln/>
        </p:spPr>
        <p:txBody>
          <a:bodyPr wrap="square" lIns="0" tIns="0" rIns="0" bIns="0" rtlCol="0" anchor="t"/>
          <a:lstStyle/>
          <a:p>
            <a:pPr marL="0" indent="0">
              <a:buNone/>
            </a:pPr>
            <a:r>
              <a:rPr lang="en-US" sz="1200" dirty="0">
                <a:solidFill>
                  <a:srgbClr val="B0C4DE"/>
                </a:solidFill>
                <a:latin typeface="Calibri" pitchFamily="34" charset="0"/>
                <a:ea typeface="Calibri" pitchFamily="34" charset="-122"/>
                <a:cs typeface="Calibri" pitchFamily="34" charset="-120"/>
              </a:rPr>
              <a:t>Granular raw data view for specific exporter-product pairs. Supports regulatory analysis and individual country risk profiling.</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D970059C-5A8E-A728-06BB-4C6880EFD62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1B19CD0-0368-17FF-91FC-6BBD3E81C28B}"/>
              </a:ext>
            </a:extLst>
          </p:cNvPr>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US"/>
          </a:p>
        </p:txBody>
      </p:sp>
      <p:sp>
        <p:nvSpPr>
          <p:cNvPr id="3" name="Shape 1">
            <a:extLst>
              <a:ext uri="{FF2B5EF4-FFF2-40B4-BE49-F238E27FC236}">
                <a16:creationId xmlns:a16="http://schemas.microsoft.com/office/drawing/2014/main" id="{39D9FE39-DC2F-2274-F167-9BBD77EBDC90}"/>
              </a:ext>
            </a:extLst>
          </p:cNvPr>
          <p:cNvSpPr/>
          <p:nvPr/>
        </p:nvSpPr>
        <p:spPr>
          <a:xfrm>
            <a:off x="0" y="0"/>
            <a:ext cx="64008" cy="5143500"/>
          </a:xfrm>
          <a:prstGeom prst="rect">
            <a:avLst/>
          </a:prstGeom>
          <a:solidFill>
            <a:srgbClr val="00C9A7"/>
          </a:solidFill>
          <a:ln w="12700">
            <a:solidFill>
              <a:srgbClr val="00C9A7"/>
            </a:solidFill>
            <a:prstDash val="solid"/>
          </a:ln>
        </p:spPr>
        <p:txBody>
          <a:bodyPr/>
          <a:lstStyle/>
          <a:p>
            <a:endParaRPr lang="en-US"/>
          </a:p>
        </p:txBody>
      </p:sp>
      <p:sp>
        <p:nvSpPr>
          <p:cNvPr id="4" name="Text 2">
            <a:extLst>
              <a:ext uri="{FF2B5EF4-FFF2-40B4-BE49-F238E27FC236}">
                <a16:creationId xmlns:a16="http://schemas.microsoft.com/office/drawing/2014/main" id="{CDA5B344-AB09-35E7-72A7-341CB60EB65B}"/>
              </a:ext>
            </a:extLst>
          </p:cNvPr>
          <p:cNvSpPr/>
          <p:nvPr/>
        </p:nvSpPr>
        <p:spPr>
          <a:xfrm>
            <a:off x="274320" y="0"/>
            <a:ext cx="8595360" cy="960120"/>
          </a:xfrm>
          <a:prstGeom prst="rect">
            <a:avLst/>
          </a:prstGeom>
          <a:noFill/>
          <a:ln/>
        </p:spPr>
        <p:txBody>
          <a:bodyPr wrap="square" lIns="0" tIns="0" rIns="0" bIns="0" rtlCol="0" anchor="ctr"/>
          <a:lstStyle/>
          <a:p>
            <a:pPr marL="0" indent="0">
              <a:buNone/>
            </a:pPr>
            <a:r>
              <a:rPr lang="en-US" sz="2000" b="1" kern="0" spc="200" dirty="0">
                <a:solidFill>
                  <a:srgbClr val="FFFFFF"/>
                </a:solidFill>
                <a:latin typeface="Calibri" pitchFamily="34" charset="0"/>
                <a:ea typeface="Calibri" pitchFamily="34" charset="-122"/>
                <a:cs typeface="Calibri" pitchFamily="34" charset="-120"/>
              </a:rPr>
              <a:t>POWER BI DASHBOARD ARCHITECTURE</a:t>
            </a:r>
            <a:endParaRPr lang="en-US" sz="2000" dirty="0"/>
          </a:p>
        </p:txBody>
      </p:sp>
      <p:sp>
        <p:nvSpPr>
          <p:cNvPr id="5" name="Shape 3">
            <a:extLst>
              <a:ext uri="{FF2B5EF4-FFF2-40B4-BE49-F238E27FC236}">
                <a16:creationId xmlns:a16="http://schemas.microsoft.com/office/drawing/2014/main" id="{08E9A1DA-BD48-4383-12D0-410B82C69C6C}"/>
              </a:ext>
            </a:extLst>
          </p:cNvPr>
          <p:cNvSpPr/>
          <p:nvPr/>
        </p:nvSpPr>
        <p:spPr>
          <a:xfrm>
            <a:off x="228600" y="1188720"/>
            <a:ext cx="4224528" cy="1783080"/>
          </a:xfrm>
          <a:prstGeom prst="rect">
            <a:avLst/>
          </a:prstGeom>
          <a:solidFill>
            <a:srgbClr val="0D1B2A"/>
          </a:solidFill>
          <a:ln w="12700">
            <a:solidFill>
              <a:srgbClr val="1A2E47"/>
            </a:solidFill>
            <a:prstDash val="solid"/>
          </a:ln>
          <a:effectLst>
            <a:outerShdw blurRad="76200" dist="25400" dir="8100000" algn="bl" rotWithShape="0">
              <a:srgbClr val="000000">
                <a:alpha val="15000"/>
              </a:srgbClr>
            </a:outerShdw>
          </a:effectLst>
        </p:spPr>
        <p:txBody>
          <a:bodyPr/>
          <a:lstStyle/>
          <a:p>
            <a:endParaRPr lang="en-US"/>
          </a:p>
        </p:txBody>
      </p:sp>
      <p:sp>
        <p:nvSpPr>
          <p:cNvPr id="6" name="Shape 4">
            <a:extLst>
              <a:ext uri="{FF2B5EF4-FFF2-40B4-BE49-F238E27FC236}">
                <a16:creationId xmlns:a16="http://schemas.microsoft.com/office/drawing/2014/main" id="{737DD221-A43D-ACB7-85A6-9603BF67F387}"/>
              </a:ext>
            </a:extLst>
          </p:cNvPr>
          <p:cNvSpPr/>
          <p:nvPr/>
        </p:nvSpPr>
        <p:spPr>
          <a:xfrm>
            <a:off x="228600" y="1097280"/>
            <a:ext cx="4224528" cy="64008"/>
          </a:xfrm>
          <a:prstGeom prst="rect">
            <a:avLst/>
          </a:prstGeom>
          <a:solidFill>
            <a:srgbClr val="00C9A7"/>
          </a:solidFill>
          <a:ln w="12700">
            <a:solidFill>
              <a:srgbClr val="00C9A7"/>
            </a:solidFill>
            <a:prstDash val="solid"/>
          </a:ln>
        </p:spPr>
        <p:txBody>
          <a:bodyPr/>
          <a:lstStyle/>
          <a:p>
            <a:endParaRPr lang="en-US"/>
          </a:p>
        </p:txBody>
      </p:sp>
      <p:sp>
        <p:nvSpPr>
          <p:cNvPr id="12" name="Shape 10">
            <a:extLst>
              <a:ext uri="{FF2B5EF4-FFF2-40B4-BE49-F238E27FC236}">
                <a16:creationId xmlns:a16="http://schemas.microsoft.com/office/drawing/2014/main" id="{36DE691D-9020-C4CA-9248-F377646932BE}"/>
              </a:ext>
            </a:extLst>
          </p:cNvPr>
          <p:cNvSpPr/>
          <p:nvPr/>
        </p:nvSpPr>
        <p:spPr>
          <a:xfrm>
            <a:off x="4690872" y="1097280"/>
            <a:ext cx="4224528" cy="1783080"/>
          </a:xfrm>
          <a:prstGeom prst="rect">
            <a:avLst/>
          </a:prstGeom>
          <a:solidFill>
            <a:srgbClr val="0D1B2A"/>
          </a:solidFill>
          <a:ln w="12700">
            <a:solidFill>
              <a:srgbClr val="1A2E47"/>
            </a:solidFill>
            <a:prstDash val="solid"/>
          </a:ln>
          <a:effectLst>
            <a:outerShdw blurRad="76200" dist="25400" dir="8100000" algn="bl" rotWithShape="0">
              <a:srgbClr val="000000">
                <a:alpha val="15000"/>
              </a:srgbClr>
            </a:outerShdw>
          </a:effectLst>
        </p:spPr>
        <p:txBody>
          <a:bodyPr/>
          <a:lstStyle/>
          <a:p>
            <a:endParaRPr lang="en-US"/>
          </a:p>
        </p:txBody>
      </p:sp>
      <p:sp>
        <p:nvSpPr>
          <p:cNvPr id="13" name="Shape 11">
            <a:extLst>
              <a:ext uri="{FF2B5EF4-FFF2-40B4-BE49-F238E27FC236}">
                <a16:creationId xmlns:a16="http://schemas.microsoft.com/office/drawing/2014/main" id="{7AE82670-74BE-B6E7-28FD-19FA236FA6EA}"/>
              </a:ext>
            </a:extLst>
          </p:cNvPr>
          <p:cNvSpPr/>
          <p:nvPr/>
        </p:nvSpPr>
        <p:spPr>
          <a:xfrm>
            <a:off x="4690872" y="1097280"/>
            <a:ext cx="4224528" cy="64008"/>
          </a:xfrm>
          <a:prstGeom prst="rect">
            <a:avLst/>
          </a:prstGeom>
          <a:solidFill>
            <a:srgbClr val="2196C4"/>
          </a:solidFill>
          <a:ln w="12700">
            <a:solidFill>
              <a:srgbClr val="2196C4"/>
            </a:solidFill>
            <a:prstDash val="solid"/>
          </a:ln>
        </p:spPr>
        <p:txBody>
          <a:bodyPr/>
          <a:lstStyle/>
          <a:p>
            <a:endParaRPr lang="en-US"/>
          </a:p>
        </p:txBody>
      </p:sp>
      <p:sp>
        <p:nvSpPr>
          <p:cNvPr id="19" name="Shape 17">
            <a:extLst>
              <a:ext uri="{FF2B5EF4-FFF2-40B4-BE49-F238E27FC236}">
                <a16:creationId xmlns:a16="http://schemas.microsoft.com/office/drawing/2014/main" id="{BB941963-E89C-D13C-D342-6DD06AF4F38C}"/>
              </a:ext>
            </a:extLst>
          </p:cNvPr>
          <p:cNvSpPr/>
          <p:nvPr/>
        </p:nvSpPr>
        <p:spPr>
          <a:xfrm>
            <a:off x="228600" y="3108960"/>
            <a:ext cx="4224528" cy="1783080"/>
          </a:xfrm>
          <a:prstGeom prst="rect">
            <a:avLst/>
          </a:prstGeom>
          <a:solidFill>
            <a:srgbClr val="0D1B2A"/>
          </a:solidFill>
          <a:ln w="12700">
            <a:solidFill>
              <a:srgbClr val="1A2E47"/>
            </a:solidFill>
            <a:prstDash val="solid"/>
          </a:ln>
          <a:effectLst>
            <a:outerShdw blurRad="76200" dist="25400" dir="8100000" algn="bl" rotWithShape="0">
              <a:srgbClr val="000000">
                <a:alpha val="15000"/>
              </a:srgbClr>
            </a:outerShdw>
          </a:effectLst>
        </p:spPr>
        <p:txBody>
          <a:bodyPr/>
          <a:lstStyle/>
          <a:p>
            <a:endParaRPr lang="en-US"/>
          </a:p>
        </p:txBody>
      </p:sp>
      <p:sp>
        <p:nvSpPr>
          <p:cNvPr id="20" name="Shape 18">
            <a:extLst>
              <a:ext uri="{FF2B5EF4-FFF2-40B4-BE49-F238E27FC236}">
                <a16:creationId xmlns:a16="http://schemas.microsoft.com/office/drawing/2014/main" id="{6D92EAA8-0274-308E-1254-06387C69FDB6}"/>
              </a:ext>
            </a:extLst>
          </p:cNvPr>
          <p:cNvSpPr/>
          <p:nvPr/>
        </p:nvSpPr>
        <p:spPr>
          <a:xfrm>
            <a:off x="228600" y="3108960"/>
            <a:ext cx="4224528" cy="64008"/>
          </a:xfrm>
          <a:prstGeom prst="rect">
            <a:avLst/>
          </a:prstGeom>
          <a:solidFill>
            <a:srgbClr val="F5A623"/>
          </a:solidFill>
          <a:ln w="12700">
            <a:solidFill>
              <a:srgbClr val="F5A623"/>
            </a:solidFill>
            <a:prstDash val="solid"/>
          </a:ln>
        </p:spPr>
        <p:txBody>
          <a:bodyPr/>
          <a:lstStyle/>
          <a:p>
            <a:endParaRPr lang="en-US"/>
          </a:p>
        </p:txBody>
      </p:sp>
      <p:sp>
        <p:nvSpPr>
          <p:cNvPr id="27" name="Shape 25">
            <a:extLst>
              <a:ext uri="{FF2B5EF4-FFF2-40B4-BE49-F238E27FC236}">
                <a16:creationId xmlns:a16="http://schemas.microsoft.com/office/drawing/2014/main" id="{EB0F38DF-066A-CC24-FA33-FA192BEEBC10}"/>
              </a:ext>
            </a:extLst>
          </p:cNvPr>
          <p:cNvSpPr/>
          <p:nvPr/>
        </p:nvSpPr>
        <p:spPr>
          <a:xfrm>
            <a:off x="4690872" y="3108960"/>
            <a:ext cx="4224528" cy="64008"/>
          </a:xfrm>
          <a:prstGeom prst="rect">
            <a:avLst/>
          </a:prstGeom>
          <a:solidFill>
            <a:srgbClr val="9B59B6"/>
          </a:solidFill>
          <a:ln w="12700">
            <a:solidFill>
              <a:srgbClr val="9B59B6"/>
            </a:solidFill>
            <a:prstDash val="solid"/>
          </a:ln>
        </p:spPr>
        <p:txBody>
          <a:bodyPr/>
          <a:lstStyle/>
          <a:p>
            <a:endParaRPr lang="en-US"/>
          </a:p>
        </p:txBody>
      </p:sp>
      <p:pic>
        <p:nvPicPr>
          <p:cNvPr id="34" name="Picture 33">
            <a:extLst>
              <a:ext uri="{FF2B5EF4-FFF2-40B4-BE49-F238E27FC236}">
                <a16:creationId xmlns:a16="http://schemas.microsoft.com/office/drawing/2014/main" id="{5F2B3B55-8E83-E435-C3E6-B241F06E34B5}"/>
              </a:ext>
            </a:extLst>
          </p:cNvPr>
          <p:cNvPicPr>
            <a:picLocks noChangeAspect="1"/>
          </p:cNvPicPr>
          <p:nvPr/>
        </p:nvPicPr>
        <p:blipFill>
          <a:blip r:embed="rId3"/>
          <a:stretch>
            <a:fillRect/>
          </a:stretch>
        </p:blipFill>
        <p:spPr>
          <a:xfrm>
            <a:off x="201168" y="1091616"/>
            <a:ext cx="4251960" cy="1907616"/>
          </a:xfrm>
          <a:prstGeom prst="rect">
            <a:avLst/>
          </a:prstGeom>
          <a:ln>
            <a:noFill/>
          </a:ln>
          <a:effectLst>
            <a:outerShdw blurRad="292100" dist="139700" dir="2700000" algn="tl" rotWithShape="0">
              <a:srgbClr val="333333">
                <a:alpha val="65000"/>
              </a:srgbClr>
            </a:outerShdw>
          </a:effectLst>
        </p:spPr>
      </p:pic>
      <p:pic>
        <p:nvPicPr>
          <p:cNvPr id="36" name="Picture 35">
            <a:extLst>
              <a:ext uri="{FF2B5EF4-FFF2-40B4-BE49-F238E27FC236}">
                <a16:creationId xmlns:a16="http://schemas.microsoft.com/office/drawing/2014/main" id="{B3699A3F-B7BF-FF0C-E848-0E549A32C144}"/>
              </a:ext>
            </a:extLst>
          </p:cNvPr>
          <p:cNvPicPr>
            <a:picLocks noChangeAspect="1"/>
          </p:cNvPicPr>
          <p:nvPr/>
        </p:nvPicPr>
        <p:blipFill>
          <a:blip r:embed="rId4"/>
          <a:stretch>
            <a:fillRect/>
          </a:stretch>
        </p:blipFill>
        <p:spPr>
          <a:xfrm>
            <a:off x="4690872" y="1087697"/>
            <a:ext cx="4251960" cy="1792663"/>
          </a:xfrm>
          <a:prstGeom prst="rect">
            <a:avLst/>
          </a:prstGeom>
          <a:ln>
            <a:noFill/>
          </a:ln>
          <a:effectLst>
            <a:outerShdw blurRad="292100" dist="139700" dir="2700000" algn="tl" rotWithShape="0">
              <a:srgbClr val="333333">
                <a:alpha val="65000"/>
              </a:srgbClr>
            </a:outerShdw>
          </a:effectLst>
        </p:spPr>
      </p:pic>
      <p:pic>
        <p:nvPicPr>
          <p:cNvPr id="38" name="Picture 37">
            <a:extLst>
              <a:ext uri="{FF2B5EF4-FFF2-40B4-BE49-F238E27FC236}">
                <a16:creationId xmlns:a16="http://schemas.microsoft.com/office/drawing/2014/main" id="{CE97ADEB-047B-72E7-67F1-43793F72B5BD}"/>
              </a:ext>
            </a:extLst>
          </p:cNvPr>
          <p:cNvPicPr>
            <a:picLocks noChangeAspect="1"/>
          </p:cNvPicPr>
          <p:nvPr/>
        </p:nvPicPr>
        <p:blipFill>
          <a:blip r:embed="rId5"/>
          <a:stretch>
            <a:fillRect/>
          </a:stretch>
        </p:blipFill>
        <p:spPr>
          <a:xfrm>
            <a:off x="214883" y="3081528"/>
            <a:ext cx="4251961" cy="1810512"/>
          </a:xfrm>
          <a:prstGeom prst="rect">
            <a:avLst/>
          </a:prstGeom>
          <a:ln>
            <a:noFill/>
          </a:ln>
          <a:effectLst>
            <a:outerShdw blurRad="292100" dist="139700" dir="2700000" algn="tl" rotWithShape="0">
              <a:srgbClr val="333333">
                <a:alpha val="65000"/>
              </a:srgbClr>
            </a:outerShdw>
          </a:effectLst>
        </p:spPr>
      </p:pic>
      <p:pic>
        <p:nvPicPr>
          <p:cNvPr id="40" name="Picture 39">
            <a:extLst>
              <a:ext uri="{FF2B5EF4-FFF2-40B4-BE49-F238E27FC236}">
                <a16:creationId xmlns:a16="http://schemas.microsoft.com/office/drawing/2014/main" id="{ECAD0EE0-2ABA-E5A3-044A-40D40C9A73AD}"/>
              </a:ext>
            </a:extLst>
          </p:cNvPr>
          <p:cNvPicPr>
            <a:picLocks noChangeAspect="1"/>
          </p:cNvPicPr>
          <p:nvPr/>
        </p:nvPicPr>
        <p:blipFill>
          <a:blip r:embed="rId6"/>
          <a:stretch>
            <a:fillRect/>
          </a:stretch>
        </p:blipFill>
        <p:spPr>
          <a:xfrm>
            <a:off x="4690872" y="3087453"/>
            <a:ext cx="4251960" cy="191753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09693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5A623"/>
          </a:solidFill>
          <a:ln w="12700">
            <a:solidFill>
              <a:srgbClr val="F5A623"/>
            </a:solidFill>
            <a:prstDash val="solid"/>
          </a:ln>
        </p:spPr>
        <p:txBody>
          <a:bodyPr/>
          <a:lstStyle/>
          <a:p>
            <a:endParaRPr lang="en-US"/>
          </a:p>
        </p:txBody>
      </p:sp>
      <p:sp>
        <p:nvSpPr>
          <p:cNvPr id="3" name="Text 1"/>
          <p:cNvSpPr/>
          <p:nvPr/>
        </p:nvSpPr>
        <p:spPr>
          <a:xfrm>
            <a:off x="274320" y="201168"/>
            <a:ext cx="8229600" cy="502920"/>
          </a:xfrm>
          <a:prstGeom prst="rect">
            <a:avLst/>
          </a:prstGeom>
          <a:noFill/>
          <a:ln/>
        </p:spPr>
        <p:txBody>
          <a:bodyPr wrap="square" lIns="0" tIns="0" rIns="0" bIns="0" rtlCol="0" anchor="ctr"/>
          <a:lstStyle/>
          <a:p>
            <a:pPr marL="0" indent="0">
              <a:buNone/>
            </a:pPr>
            <a:r>
              <a:rPr lang="en-US" sz="2200" b="1" kern="0" spc="200" dirty="0">
                <a:solidFill>
                  <a:srgbClr val="FFFFFF"/>
                </a:solidFill>
                <a:latin typeface="Calibri" pitchFamily="34" charset="0"/>
                <a:ea typeface="Calibri" pitchFamily="34" charset="-122"/>
                <a:cs typeface="Calibri" pitchFamily="34" charset="-120"/>
              </a:rPr>
              <a:t>RECOMMENDATIONS</a:t>
            </a:r>
            <a:endParaRPr lang="en-US" sz="2200" dirty="0"/>
          </a:p>
        </p:txBody>
      </p:sp>
      <p:sp>
        <p:nvSpPr>
          <p:cNvPr id="4" name="Text 2"/>
          <p:cNvSpPr/>
          <p:nvPr/>
        </p:nvSpPr>
        <p:spPr>
          <a:xfrm>
            <a:off x="274320" y="731520"/>
            <a:ext cx="8229600" cy="274320"/>
          </a:xfrm>
          <a:prstGeom prst="rect">
            <a:avLst/>
          </a:prstGeom>
          <a:noFill/>
          <a:ln/>
        </p:spPr>
        <p:txBody>
          <a:bodyPr wrap="square" lIns="0" tIns="0" rIns="0" bIns="0" rtlCol="0" anchor="ctr"/>
          <a:lstStyle/>
          <a:p>
            <a:pPr marL="0" indent="0">
              <a:buNone/>
            </a:pPr>
            <a:r>
              <a:rPr lang="en-US" sz="1600" dirty="0">
                <a:solidFill>
                  <a:srgbClr val="B0C4DE"/>
                </a:solidFill>
                <a:latin typeface="Calibri" pitchFamily="34" charset="0"/>
                <a:ea typeface="Calibri" pitchFamily="34" charset="-122"/>
                <a:cs typeface="Calibri" pitchFamily="34" charset="-120"/>
              </a:rPr>
              <a:t>Strategic Policy Interventions for Trade Resilience</a:t>
            </a:r>
            <a:endParaRPr lang="en-US" sz="1600" dirty="0"/>
          </a:p>
        </p:txBody>
      </p:sp>
      <p:sp>
        <p:nvSpPr>
          <p:cNvPr id="5" name="Shape 3"/>
          <p:cNvSpPr/>
          <p:nvPr/>
        </p:nvSpPr>
        <p:spPr>
          <a:xfrm>
            <a:off x="182880" y="1188720"/>
            <a:ext cx="8778240" cy="1078992"/>
          </a:xfrm>
          <a:prstGeom prst="rect">
            <a:avLst/>
          </a:prstGeom>
          <a:solidFill>
            <a:srgbClr val="142233"/>
          </a:solidFill>
          <a:ln w="12700">
            <a:solidFill>
              <a:srgbClr val="1A2E47"/>
            </a:solidFill>
            <a:prstDash val="solid"/>
          </a:ln>
        </p:spPr>
        <p:txBody>
          <a:bodyPr/>
          <a:lstStyle/>
          <a:p>
            <a:endParaRPr lang="en-US"/>
          </a:p>
        </p:txBody>
      </p:sp>
      <p:sp>
        <p:nvSpPr>
          <p:cNvPr id="6" name="Shape 4"/>
          <p:cNvSpPr/>
          <p:nvPr/>
        </p:nvSpPr>
        <p:spPr>
          <a:xfrm>
            <a:off x="182880" y="1188720"/>
            <a:ext cx="54864" cy="1078992"/>
          </a:xfrm>
          <a:prstGeom prst="rect">
            <a:avLst/>
          </a:prstGeom>
          <a:solidFill>
            <a:srgbClr val="00C9A7"/>
          </a:solidFill>
          <a:ln w="12700">
            <a:solidFill>
              <a:srgbClr val="00C9A7"/>
            </a:solidFill>
            <a:prstDash val="solid"/>
          </a:ln>
        </p:spPr>
        <p:txBody>
          <a:bodyPr/>
          <a:lstStyle/>
          <a:p>
            <a:endParaRPr lang="en-US"/>
          </a:p>
        </p:txBody>
      </p:sp>
      <p:sp>
        <p:nvSpPr>
          <p:cNvPr id="7" name="Shape 5"/>
          <p:cNvSpPr/>
          <p:nvPr/>
        </p:nvSpPr>
        <p:spPr>
          <a:xfrm>
            <a:off x="347472" y="1298448"/>
            <a:ext cx="594360" cy="594360"/>
          </a:xfrm>
          <a:prstGeom prst="rect">
            <a:avLst/>
          </a:prstGeom>
          <a:solidFill>
            <a:srgbClr val="00C9A7"/>
          </a:solidFill>
          <a:ln w="12700">
            <a:solidFill>
              <a:srgbClr val="00C9A7"/>
            </a:solidFill>
            <a:prstDash val="solid"/>
          </a:ln>
        </p:spPr>
        <p:txBody>
          <a:bodyPr/>
          <a:lstStyle/>
          <a:p>
            <a:endParaRPr lang="en-US"/>
          </a:p>
        </p:txBody>
      </p:sp>
      <p:sp>
        <p:nvSpPr>
          <p:cNvPr id="8" name="Text 6"/>
          <p:cNvSpPr/>
          <p:nvPr/>
        </p:nvSpPr>
        <p:spPr>
          <a:xfrm>
            <a:off x="347472" y="1298448"/>
            <a:ext cx="594360" cy="594360"/>
          </a:xfrm>
          <a:prstGeom prst="rect">
            <a:avLst/>
          </a:prstGeom>
          <a:noFill/>
          <a:ln/>
        </p:spPr>
        <p:txBody>
          <a:bodyPr wrap="square" lIns="0" tIns="0" rIns="0" bIns="0" rtlCol="0" anchor="ctr"/>
          <a:lstStyle/>
          <a:p>
            <a:pPr marL="0" indent="0" algn="ctr">
              <a:buNone/>
            </a:pPr>
            <a:r>
              <a:rPr lang="en-US" sz="1600" b="1" dirty="0">
                <a:solidFill>
                  <a:srgbClr val="0D1B2A"/>
                </a:solidFill>
                <a:latin typeface="Calibri" pitchFamily="34" charset="0"/>
                <a:ea typeface="Calibri" pitchFamily="34" charset="-122"/>
                <a:cs typeface="Calibri" pitchFamily="34" charset="-120"/>
              </a:rPr>
              <a:t>01</a:t>
            </a:r>
            <a:endParaRPr lang="en-US" sz="1600" dirty="0"/>
          </a:p>
        </p:txBody>
      </p:sp>
      <p:sp>
        <p:nvSpPr>
          <p:cNvPr id="9" name="Text 7"/>
          <p:cNvSpPr/>
          <p:nvPr/>
        </p:nvSpPr>
        <p:spPr>
          <a:xfrm>
            <a:off x="1115568" y="1280160"/>
            <a:ext cx="763524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Prioritize Liquidity for High-RZ Sectors</a:t>
            </a:r>
            <a:endParaRPr lang="en-US" sz="1200" dirty="0"/>
          </a:p>
        </p:txBody>
      </p:sp>
      <p:sp>
        <p:nvSpPr>
          <p:cNvPr id="10" name="Text 8"/>
          <p:cNvSpPr/>
          <p:nvPr/>
        </p:nvSpPr>
        <p:spPr>
          <a:xfrm>
            <a:off x="1115568" y="1645920"/>
            <a:ext cx="7635240" cy="548640"/>
          </a:xfrm>
          <a:prstGeom prst="rect">
            <a:avLst/>
          </a:prstGeom>
          <a:noFill/>
          <a:ln/>
        </p:spPr>
        <p:txBody>
          <a:bodyPr wrap="square" lIns="0" tIns="0" rIns="0" bIns="0" rtlCol="0" anchor="t"/>
          <a:lstStyle/>
          <a:p>
            <a:pPr marL="0" indent="0">
              <a:buNone/>
            </a:pPr>
            <a:r>
              <a:rPr lang="en-US" sz="1200" dirty="0">
                <a:solidFill>
                  <a:srgbClr val="B0C4DE"/>
                </a:solidFill>
                <a:latin typeface="Calibri" pitchFamily="34" charset="0"/>
                <a:ea typeface="Calibri" pitchFamily="34" charset="-122"/>
                <a:cs typeface="Calibri" pitchFamily="34" charset="-120"/>
              </a:rPr>
              <a:t>Industries with high financial dependence (RZ) show the most significant growth volatility. Policy interventions like liquidity support (liqsup) should be targeted specifically at these sectors to prevent total trade collapse during crises.</a:t>
            </a:r>
            <a:endParaRPr lang="en-US" sz="1200" dirty="0"/>
          </a:p>
        </p:txBody>
      </p:sp>
      <p:sp>
        <p:nvSpPr>
          <p:cNvPr id="11" name="Shape 9"/>
          <p:cNvSpPr/>
          <p:nvPr/>
        </p:nvSpPr>
        <p:spPr>
          <a:xfrm>
            <a:off x="182880" y="2423160"/>
            <a:ext cx="8778240" cy="1078992"/>
          </a:xfrm>
          <a:prstGeom prst="rect">
            <a:avLst/>
          </a:prstGeom>
          <a:solidFill>
            <a:srgbClr val="142233"/>
          </a:solidFill>
          <a:ln w="12700">
            <a:solidFill>
              <a:srgbClr val="1A2E47"/>
            </a:solidFill>
            <a:prstDash val="solid"/>
          </a:ln>
        </p:spPr>
        <p:txBody>
          <a:bodyPr/>
          <a:lstStyle/>
          <a:p>
            <a:endParaRPr lang="en-US"/>
          </a:p>
        </p:txBody>
      </p:sp>
      <p:sp>
        <p:nvSpPr>
          <p:cNvPr id="12" name="Shape 10"/>
          <p:cNvSpPr/>
          <p:nvPr/>
        </p:nvSpPr>
        <p:spPr>
          <a:xfrm>
            <a:off x="182880" y="2423160"/>
            <a:ext cx="54864" cy="1078992"/>
          </a:xfrm>
          <a:prstGeom prst="rect">
            <a:avLst/>
          </a:prstGeom>
          <a:solidFill>
            <a:srgbClr val="2196C4"/>
          </a:solidFill>
          <a:ln w="12700">
            <a:solidFill>
              <a:srgbClr val="2196C4"/>
            </a:solidFill>
            <a:prstDash val="solid"/>
          </a:ln>
        </p:spPr>
        <p:txBody>
          <a:bodyPr/>
          <a:lstStyle/>
          <a:p>
            <a:endParaRPr lang="en-US"/>
          </a:p>
        </p:txBody>
      </p:sp>
      <p:sp>
        <p:nvSpPr>
          <p:cNvPr id="13" name="Shape 11"/>
          <p:cNvSpPr/>
          <p:nvPr/>
        </p:nvSpPr>
        <p:spPr>
          <a:xfrm>
            <a:off x="347472" y="2532888"/>
            <a:ext cx="594360" cy="594360"/>
          </a:xfrm>
          <a:prstGeom prst="rect">
            <a:avLst/>
          </a:prstGeom>
          <a:solidFill>
            <a:srgbClr val="2196C4"/>
          </a:solidFill>
          <a:ln w="12700">
            <a:solidFill>
              <a:srgbClr val="2196C4"/>
            </a:solidFill>
            <a:prstDash val="solid"/>
          </a:ln>
        </p:spPr>
        <p:txBody>
          <a:bodyPr/>
          <a:lstStyle/>
          <a:p>
            <a:endParaRPr lang="en-US"/>
          </a:p>
        </p:txBody>
      </p:sp>
      <p:sp>
        <p:nvSpPr>
          <p:cNvPr id="14" name="Text 12"/>
          <p:cNvSpPr/>
          <p:nvPr/>
        </p:nvSpPr>
        <p:spPr>
          <a:xfrm>
            <a:off x="347472" y="2532888"/>
            <a:ext cx="594360" cy="594360"/>
          </a:xfrm>
          <a:prstGeom prst="rect">
            <a:avLst/>
          </a:prstGeom>
          <a:noFill/>
          <a:ln/>
        </p:spPr>
        <p:txBody>
          <a:bodyPr wrap="square" lIns="0" tIns="0" rIns="0" bIns="0" rtlCol="0" anchor="ctr"/>
          <a:lstStyle/>
          <a:p>
            <a:pPr marL="0" indent="0" algn="ctr">
              <a:buNone/>
            </a:pPr>
            <a:r>
              <a:rPr lang="en-US" sz="1600" b="1" dirty="0">
                <a:solidFill>
                  <a:srgbClr val="0D1B2A"/>
                </a:solidFill>
                <a:latin typeface="Calibri" pitchFamily="34" charset="0"/>
                <a:ea typeface="Calibri" pitchFamily="34" charset="-122"/>
                <a:cs typeface="Calibri" pitchFamily="34" charset="-120"/>
              </a:rPr>
              <a:t>02</a:t>
            </a:r>
            <a:endParaRPr lang="en-US" sz="1600" dirty="0"/>
          </a:p>
        </p:txBody>
      </p:sp>
      <p:sp>
        <p:nvSpPr>
          <p:cNvPr id="15" name="Text 13"/>
          <p:cNvSpPr/>
          <p:nvPr/>
        </p:nvSpPr>
        <p:spPr>
          <a:xfrm>
            <a:off x="1115568" y="2514600"/>
            <a:ext cx="763524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Strengthen Credit Buffers in Developing Nations</a:t>
            </a:r>
            <a:endParaRPr lang="en-US" sz="1200" dirty="0"/>
          </a:p>
        </p:txBody>
      </p:sp>
      <p:sp>
        <p:nvSpPr>
          <p:cNvPr id="16" name="Text 14"/>
          <p:cNvSpPr/>
          <p:nvPr/>
        </p:nvSpPr>
        <p:spPr>
          <a:xfrm>
            <a:off x="1115568" y="2880360"/>
            <a:ext cx="7635240" cy="548640"/>
          </a:xfrm>
          <a:prstGeom prst="rect">
            <a:avLst/>
          </a:prstGeom>
          <a:noFill/>
          <a:ln/>
        </p:spPr>
        <p:txBody>
          <a:bodyPr wrap="square" lIns="0" tIns="0" rIns="0" bIns="0" rtlCol="0" anchor="t"/>
          <a:lstStyle/>
          <a:p>
            <a:pPr marL="0" indent="0">
              <a:buNone/>
            </a:pPr>
            <a:r>
              <a:rPr lang="en-US" sz="1200" dirty="0">
                <a:solidFill>
                  <a:srgbClr val="B0C4DE"/>
                </a:solidFill>
                <a:latin typeface="Calibri" pitchFamily="34" charset="0"/>
                <a:ea typeface="Calibri" pitchFamily="34" charset="-122"/>
                <a:cs typeface="Calibri" pitchFamily="34" charset="-120"/>
              </a:rPr>
              <a:t>Developed countries have significantly higher private credit (USA: 5.8K vs Malaysia: 2.1K). Developing nations should focus on increasing banking depth (pcrdbofgdp) to improve Systematic Resilience above the current 0.27 baseline.</a:t>
            </a:r>
            <a:endParaRPr lang="en-US" sz="1200" dirty="0"/>
          </a:p>
        </p:txBody>
      </p:sp>
      <p:sp>
        <p:nvSpPr>
          <p:cNvPr id="17" name="Shape 15"/>
          <p:cNvSpPr/>
          <p:nvPr/>
        </p:nvSpPr>
        <p:spPr>
          <a:xfrm>
            <a:off x="182880" y="3657600"/>
            <a:ext cx="8778240" cy="1078992"/>
          </a:xfrm>
          <a:prstGeom prst="rect">
            <a:avLst/>
          </a:prstGeom>
          <a:solidFill>
            <a:srgbClr val="142233"/>
          </a:solidFill>
          <a:ln w="12700">
            <a:solidFill>
              <a:srgbClr val="1A2E47"/>
            </a:solidFill>
            <a:prstDash val="solid"/>
          </a:ln>
        </p:spPr>
        <p:txBody>
          <a:bodyPr/>
          <a:lstStyle/>
          <a:p>
            <a:endParaRPr lang="en-US"/>
          </a:p>
        </p:txBody>
      </p:sp>
      <p:sp>
        <p:nvSpPr>
          <p:cNvPr id="18" name="Shape 16"/>
          <p:cNvSpPr/>
          <p:nvPr/>
        </p:nvSpPr>
        <p:spPr>
          <a:xfrm>
            <a:off x="182880" y="3657600"/>
            <a:ext cx="54864" cy="1078992"/>
          </a:xfrm>
          <a:prstGeom prst="rect">
            <a:avLst/>
          </a:prstGeom>
          <a:solidFill>
            <a:srgbClr val="F5A623"/>
          </a:solidFill>
          <a:ln w="12700">
            <a:solidFill>
              <a:srgbClr val="F5A623"/>
            </a:solidFill>
            <a:prstDash val="solid"/>
          </a:ln>
        </p:spPr>
        <p:txBody>
          <a:bodyPr/>
          <a:lstStyle/>
          <a:p>
            <a:endParaRPr lang="en-US"/>
          </a:p>
        </p:txBody>
      </p:sp>
      <p:sp>
        <p:nvSpPr>
          <p:cNvPr id="19" name="Shape 17"/>
          <p:cNvSpPr/>
          <p:nvPr/>
        </p:nvSpPr>
        <p:spPr>
          <a:xfrm>
            <a:off x="347472" y="3767328"/>
            <a:ext cx="594360" cy="594360"/>
          </a:xfrm>
          <a:prstGeom prst="rect">
            <a:avLst/>
          </a:prstGeom>
          <a:solidFill>
            <a:srgbClr val="F5A623"/>
          </a:solidFill>
          <a:ln w="12700">
            <a:solidFill>
              <a:srgbClr val="F5A623"/>
            </a:solidFill>
            <a:prstDash val="solid"/>
          </a:ln>
        </p:spPr>
        <p:txBody>
          <a:bodyPr/>
          <a:lstStyle/>
          <a:p>
            <a:endParaRPr lang="en-US"/>
          </a:p>
        </p:txBody>
      </p:sp>
      <p:sp>
        <p:nvSpPr>
          <p:cNvPr id="20" name="Text 18"/>
          <p:cNvSpPr/>
          <p:nvPr/>
        </p:nvSpPr>
        <p:spPr>
          <a:xfrm>
            <a:off x="347472" y="3767328"/>
            <a:ext cx="594360" cy="594360"/>
          </a:xfrm>
          <a:prstGeom prst="rect">
            <a:avLst/>
          </a:prstGeom>
          <a:noFill/>
          <a:ln/>
        </p:spPr>
        <p:txBody>
          <a:bodyPr wrap="square" lIns="0" tIns="0" rIns="0" bIns="0" rtlCol="0" anchor="ctr"/>
          <a:lstStyle/>
          <a:p>
            <a:pPr marL="0" indent="0" algn="ctr">
              <a:buNone/>
            </a:pPr>
            <a:r>
              <a:rPr lang="en-US" sz="1600" b="1" dirty="0">
                <a:solidFill>
                  <a:srgbClr val="0D1B2A"/>
                </a:solidFill>
                <a:latin typeface="Calibri" pitchFamily="34" charset="0"/>
                <a:ea typeface="Calibri" pitchFamily="34" charset="-122"/>
                <a:cs typeface="Calibri" pitchFamily="34" charset="-120"/>
              </a:rPr>
              <a:t>03</a:t>
            </a:r>
            <a:endParaRPr lang="en-US" sz="1600" dirty="0"/>
          </a:p>
        </p:txBody>
      </p:sp>
      <p:sp>
        <p:nvSpPr>
          <p:cNvPr id="21" name="Text 19"/>
          <p:cNvSpPr/>
          <p:nvPr/>
        </p:nvSpPr>
        <p:spPr>
          <a:xfrm>
            <a:off x="1115568" y="3749040"/>
            <a:ext cx="763524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Diversify Beyond High-Value Commodities</a:t>
            </a:r>
            <a:endParaRPr lang="en-US" sz="1200" dirty="0"/>
          </a:p>
        </p:txBody>
      </p:sp>
      <p:sp>
        <p:nvSpPr>
          <p:cNvPr id="22" name="Text 20"/>
          <p:cNvSpPr/>
          <p:nvPr/>
        </p:nvSpPr>
        <p:spPr>
          <a:xfrm>
            <a:off x="1115568" y="4114800"/>
            <a:ext cx="7635240" cy="548640"/>
          </a:xfrm>
          <a:prstGeom prst="rect">
            <a:avLst/>
          </a:prstGeom>
          <a:noFill/>
          <a:ln/>
        </p:spPr>
        <p:txBody>
          <a:bodyPr wrap="square" lIns="0" tIns="0" rIns="0" bIns="0" rtlCol="0" anchor="t"/>
          <a:lstStyle/>
          <a:p>
            <a:pPr marL="0" indent="0">
              <a:buNone/>
            </a:pPr>
            <a:r>
              <a:rPr lang="en-US" sz="1200" dirty="0">
                <a:solidFill>
                  <a:srgbClr val="B0C4DE"/>
                </a:solidFill>
                <a:latin typeface="Calibri" pitchFamily="34" charset="0"/>
                <a:ea typeface="Calibri" pitchFamily="34" charset="-122"/>
                <a:cs typeface="Calibri" pitchFamily="34" charset="-120"/>
              </a:rPr>
              <a:t>Top two products (3843 and 3832) account for over $10bn in trade, creating concentration risk. Countries should diversify export portfolios to mitigate the 0.44 Aggregated Risk from sector-specific shocks.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1371600" y="-1371600"/>
            <a:ext cx="5943600" cy="5943600"/>
          </a:xfrm>
          <a:prstGeom prst="ellipse">
            <a:avLst/>
          </a:prstGeom>
          <a:solidFill>
            <a:srgbClr val="1B6CA8">
              <a:alpha val="12000"/>
            </a:srgbClr>
          </a:solidFill>
          <a:ln w="12700">
            <a:solidFill>
              <a:srgbClr val="1B6CA8">
                <a:alpha val="12000"/>
              </a:srgbClr>
            </a:solidFill>
            <a:prstDash val="solid"/>
          </a:ln>
        </p:spPr>
        <p:txBody>
          <a:bodyPr/>
          <a:lstStyle/>
          <a:p>
            <a:endParaRPr lang="en-US"/>
          </a:p>
        </p:txBody>
      </p:sp>
      <p:sp>
        <p:nvSpPr>
          <p:cNvPr id="3" name="Shape 1"/>
          <p:cNvSpPr/>
          <p:nvPr/>
        </p:nvSpPr>
        <p:spPr>
          <a:xfrm>
            <a:off x="5486400" y="1828800"/>
            <a:ext cx="4572000" cy="4572000"/>
          </a:xfrm>
          <a:prstGeom prst="ellipse">
            <a:avLst/>
          </a:prstGeom>
          <a:solidFill>
            <a:srgbClr val="00C9A7">
              <a:alpha val="10000"/>
            </a:srgbClr>
          </a:solidFill>
          <a:ln w="12700">
            <a:solidFill>
              <a:srgbClr val="00C9A7">
                <a:alpha val="10000"/>
              </a:srgbClr>
            </a:solidFill>
            <a:prstDash val="solid"/>
          </a:ln>
        </p:spPr>
        <p:txBody>
          <a:bodyPr/>
          <a:lstStyle/>
          <a:p>
            <a:endParaRPr lang="en-US"/>
          </a:p>
        </p:txBody>
      </p:sp>
      <p:sp>
        <p:nvSpPr>
          <p:cNvPr id="4" name="Shape 2"/>
          <p:cNvSpPr/>
          <p:nvPr/>
        </p:nvSpPr>
        <p:spPr>
          <a:xfrm>
            <a:off x="0" y="0"/>
            <a:ext cx="64008" cy="5143500"/>
          </a:xfrm>
          <a:prstGeom prst="rect">
            <a:avLst/>
          </a:prstGeom>
          <a:solidFill>
            <a:srgbClr val="00C9A7"/>
          </a:solidFill>
          <a:ln w="12700">
            <a:solidFill>
              <a:srgbClr val="00C9A7"/>
            </a:solidFill>
            <a:prstDash val="solid"/>
          </a:ln>
        </p:spPr>
        <p:txBody>
          <a:bodyPr/>
          <a:lstStyle/>
          <a:p>
            <a:endParaRPr lang="en-US"/>
          </a:p>
        </p:txBody>
      </p:sp>
      <p:sp>
        <p:nvSpPr>
          <p:cNvPr id="5" name="Text 3"/>
          <p:cNvSpPr/>
          <p:nvPr/>
        </p:nvSpPr>
        <p:spPr>
          <a:xfrm>
            <a:off x="457200" y="731520"/>
            <a:ext cx="8229600" cy="1005840"/>
          </a:xfrm>
          <a:prstGeom prst="rect">
            <a:avLst/>
          </a:prstGeom>
          <a:noFill/>
          <a:ln/>
        </p:spPr>
        <p:txBody>
          <a:bodyPr wrap="square" lIns="0" tIns="0" rIns="0" bIns="0" rtlCol="0" anchor="ctr"/>
          <a:lstStyle/>
          <a:p>
            <a:pPr marL="0" indent="0" algn="ctr">
              <a:buNone/>
            </a:pPr>
            <a:r>
              <a:rPr lang="en-US" sz="5800" b="1" kern="0" spc="500" dirty="0">
                <a:solidFill>
                  <a:srgbClr val="FFFFFF"/>
                </a:solidFill>
                <a:latin typeface="Calibri" pitchFamily="34" charset="0"/>
                <a:ea typeface="Calibri" pitchFamily="34" charset="-122"/>
                <a:cs typeface="Calibri" pitchFamily="34" charset="-120"/>
              </a:rPr>
              <a:t>THANK YOU</a:t>
            </a:r>
            <a:endParaRPr lang="en-US" sz="5800" dirty="0"/>
          </a:p>
        </p:txBody>
      </p:sp>
      <p:sp>
        <p:nvSpPr>
          <p:cNvPr id="6" name="Text 4"/>
          <p:cNvSpPr/>
          <p:nvPr/>
        </p:nvSpPr>
        <p:spPr>
          <a:xfrm>
            <a:off x="914400" y="1920240"/>
            <a:ext cx="7315200" cy="594360"/>
          </a:xfrm>
          <a:prstGeom prst="rect">
            <a:avLst/>
          </a:prstGeom>
          <a:noFill/>
          <a:ln/>
        </p:spPr>
        <p:txBody>
          <a:bodyPr wrap="square" lIns="0" tIns="0" rIns="0" bIns="0" rtlCol="0" anchor="ctr"/>
          <a:lstStyle/>
          <a:p>
            <a:pPr marL="0" indent="0" algn="ctr">
              <a:buNone/>
            </a:pPr>
            <a:r>
              <a:rPr lang="en-US" sz="1300" dirty="0">
                <a:solidFill>
                  <a:srgbClr val="B0C4DE"/>
                </a:solidFill>
                <a:latin typeface="Calibri" pitchFamily="34" charset="0"/>
                <a:ea typeface="Calibri" pitchFamily="34" charset="-122"/>
                <a:cs typeface="Calibri" pitchFamily="34" charset="-120"/>
              </a:rPr>
              <a:t>Global Export Resilience: Analysing the Impact of Banking Crises and Policy Interventions</a:t>
            </a:r>
            <a:endParaRPr lang="en-US" sz="1300" dirty="0"/>
          </a:p>
        </p:txBody>
      </p:sp>
      <p:sp>
        <p:nvSpPr>
          <p:cNvPr id="7" name="Shape 5"/>
          <p:cNvSpPr/>
          <p:nvPr/>
        </p:nvSpPr>
        <p:spPr>
          <a:xfrm>
            <a:off x="3200400" y="2633472"/>
            <a:ext cx="2743200" cy="36576"/>
          </a:xfrm>
          <a:prstGeom prst="rect">
            <a:avLst/>
          </a:prstGeom>
          <a:solidFill>
            <a:srgbClr val="00C9A7"/>
          </a:solidFill>
          <a:ln w="12700">
            <a:solidFill>
              <a:srgbClr val="00C9A7"/>
            </a:solidFill>
            <a:prstDash val="solid"/>
          </a:ln>
        </p:spPr>
        <p:txBody>
          <a:bodyPr/>
          <a:lstStyle/>
          <a:p>
            <a:endParaRPr lang="en-US"/>
          </a:p>
        </p:txBody>
      </p:sp>
      <p:sp>
        <p:nvSpPr>
          <p:cNvPr id="8" name="Text 6"/>
          <p:cNvSpPr/>
          <p:nvPr/>
        </p:nvSpPr>
        <p:spPr>
          <a:xfrm>
            <a:off x="914400" y="2834640"/>
            <a:ext cx="7315200" cy="365760"/>
          </a:xfrm>
          <a:prstGeom prst="rect">
            <a:avLst/>
          </a:prstGeom>
          <a:noFill/>
          <a:ln/>
        </p:spPr>
        <p:txBody>
          <a:bodyPr wrap="square" lIns="0" tIns="0" rIns="0" bIns="0" rtlCol="0" anchor="ctr"/>
          <a:lstStyle/>
          <a:p>
            <a:pPr marL="0" indent="0" algn="ctr">
              <a:buNone/>
            </a:pPr>
            <a:r>
              <a:rPr lang="en-US" sz="1300" b="1" dirty="0">
                <a:solidFill>
                  <a:srgbClr val="00C9A7"/>
                </a:solidFill>
                <a:latin typeface="Calibri" pitchFamily="34" charset="0"/>
                <a:ea typeface="Calibri" pitchFamily="34" charset="-122"/>
                <a:cs typeface="Calibri" pitchFamily="34" charset="-120"/>
              </a:rPr>
              <a:t>Group C  ·  DSA3050  ·  USIU-Africa</a:t>
            </a:r>
            <a:endParaRPr lang="en-US" sz="1300" dirty="0"/>
          </a:p>
        </p:txBody>
      </p:sp>
      <p:sp>
        <p:nvSpPr>
          <p:cNvPr id="9" name="Text 7"/>
          <p:cNvSpPr/>
          <p:nvPr/>
        </p:nvSpPr>
        <p:spPr>
          <a:xfrm>
            <a:off x="457200" y="3337560"/>
            <a:ext cx="8229600" cy="347472"/>
          </a:xfrm>
          <a:prstGeom prst="rect">
            <a:avLst/>
          </a:prstGeom>
          <a:noFill/>
          <a:ln/>
        </p:spPr>
        <p:txBody>
          <a:bodyPr wrap="square" lIns="0" tIns="0" rIns="0" bIns="0" rtlCol="0" anchor="ctr"/>
          <a:lstStyle/>
          <a:p>
            <a:pPr marL="0" indent="0" algn="ctr">
              <a:buNone/>
            </a:pPr>
            <a:r>
              <a:rPr lang="en-US" sz="1050" dirty="0">
                <a:solidFill>
                  <a:srgbClr val="B0C4DE"/>
                </a:solidFill>
                <a:latin typeface="Calibri" pitchFamily="34" charset="0"/>
                <a:ea typeface="Calibri" pitchFamily="34" charset="-122"/>
                <a:cs typeface="Calibri" pitchFamily="34" charset="-120"/>
              </a:rPr>
              <a:t>Angela Irungu  ·  Martin Kyaremateng  ·  Queen Kibegi  ·  Tumaini Micheni  ·  Leona Kamau  </a:t>
            </a:r>
            <a:endParaRPr lang="en-US" sz="1050" dirty="0"/>
          </a:p>
        </p:txBody>
      </p:sp>
      <p:sp>
        <p:nvSpPr>
          <p:cNvPr id="10" name="Text 8"/>
          <p:cNvSpPr/>
          <p:nvPr/>
        </p:nvSpPr>
        <p:spPr>
          <a:xfrm>
            <a:off x="457200" y="4663440"/>
            <a:ext cx="8229600" cy="274320"/>
          </a:xfrm>
          <a:prstGeom prst="rect">
            <a:avLst/>
          </a:prstGeom>
          <a:noFill/>
          <a:ln/>
        </p:spPr>
        <p:txBody>
          <a:bodyPr wrap="square" lIns="0" tIns="0" rIns="0" bIns="0" rtlCol="0" anchor="ctr"/>
          <a:lstStyle/>
          <a:p>
            <a:pPr marL="0" indent="0" algn="ctr">
              <a:buNone/>
            </a:pPr>
            <a:r>
              <a:rPr lang="en-US" sz="900" dirty="0">
                <a:solidFill>
                  <a:srgbClr val="4A6080"/>
                </a:solidFill>
                <a:latin typeface="Calibri" pitchFamily="34" charset="0"/>
                <a:ea typeface="Calibri" pitchFamily="34" charset="-122"/>
                <a:cs typeface="Calibri" pitchFamily="34" charset="-120"/>
              </a:rPr>
              <a:t>Data Source: World Bank Data Catalog — Banking Crisis and Exports Dataset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832</Words>
  <Application>Microsoft Office PowerPoint</Application>
  <PresentationFormat>On-screen Show (16:9)</PresentationFormat>
  <Paragraphs>124</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Export Resilience</dc:title>
  <dc:subject>PptxGenJS Presentation</dc:subject>
  <dc:creator>PptxGenJS</dc:creator>
  <cp:lastModifiedBy>L K</cp:lastModifiedBy>
  <cp:revision>5</cp:revision>
  <dcterms:created xsi:type="dcterms:W3CDTF">2026-04-08T08:59:28Z</dcterms:created>
  <dcterms:modified xsi:type="dcterms:W3CDTF">2026-04-08T09:56:42Z</dcterms:modified>
</cp:coreProperties>
</file>